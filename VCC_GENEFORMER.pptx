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5" r:id="rId2"/>
    <p:sldId id="267" r:id="rId3"/>
    <p:sldId id="269" r:id="rId4"/>
    <p:sldId id="268" r:id="rId5"/>
    <p:sldId id="270" r:id="rId6"/>
    <p:sldId id="271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A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34366-4EC8-43B5-95E9-435AF637CD0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5F695-1777-43A7-B491-4060A99A20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857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115A-6090-87B6-1CDB-1E2074A4D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724FA-9CA0-DFBD-947F-F77371DC0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F961-099E-7C3D-3BBF-E3A320FB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83965-4797-271E-6B80-A126E5EFE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CED60-D440-2B46-DDFD-B9A13739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E3DF-F611-797A-49A1-76DC6DF0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AE94-0CAD-9608-127A-5F58A3453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F8F6-1281-2455-867B-2AA9F6AD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EF23D-D446-BFD1-62BF-FC6ECAA9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C2A70-CCA1-26D8-AF6B-86AB2AD19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366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39D4-D7E4-4DFD-F799-0A1922D2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2CCD4-C1FB-947D-50D0-BDB15EC92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9E12F-092B-3C38-54FC-216C29C10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3DF67-278C-5088-DA73-3B59AF79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5012E-0FD3-02C3-E901-04CF1F10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15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F6D6-BF32-5507-EF34-85A2B312A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7CCE-2205-40FB-6C07-74D1CA6EC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7D55A-8E17-04D4-08EA-38245F49B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30AFC-A1D6-9719-1202-E91C713B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41234-E2A4-A355-335B-5DF3F45AA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98415-FEE8-EFED-7515-EC99537A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971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06DF-D829-DDFB-9F2B-EA6EB752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CFC4C-2AB5-E2EA-1617-BBF089FF5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F69FA-6FFA-949C-F8A9-E6A15A69F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A05B3-8028-7388-E7C8-CDE6AC0C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6CCB5-642D-F89C-A142-B34DBB158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9E8A9-30E7-FE5E-89F4-3B5D947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ADFA5-5B38-0649-451C-07B55407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45D79-5E8C-4912-172C-153D67B5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21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B7CF-7709-F6E3-8617-F4EA795B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3DB7F-F41E-64A3-4055-E393BCB8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B7EF0-6D2B-ABC8-EDA0-02E05A1A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DB001-20D8-4A80-D99E-A3BA981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57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E87A6-9A6A-3AE2-90B1-6F3BD94D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966DF-0EAB-DA74-C2EC-8D2C178FD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2892A-8251-77B1-E907-76C3FEFB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4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0969-E081-9AFB-C360-E0E187D1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ADF28-4248-54E7-0ABB-D3D6B7CA7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A561A-657B-ABDE-C664-49D21CFE1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20E6E-81A7-5A9C-B879-6F06A212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EC4BF-0953-DB51-F929-16DF5D994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15EE3-0136-B989-04FB-6841B6E63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73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8328-02BE-5DAD-6815-7E7E16453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98B07-8627-CFD3-3241-E9E20109F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DD1-4B86-C170-8C4E-F547E8A58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256A0-CC19-103B-4539-402880FC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1CA1F-18A9-9A55-12CB-FC3E9360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66FE9-BAC2-17F0-411C-5C7D7FD8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29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C9F9-96DB-10D4-2C38-665A00B0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91CC3-0218-B334-A861-A621006D8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A5E8-06E7-7568-BA1C-AF5FF903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298B-2DDF-CCF9-DE77-9ADFAC8F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47C38-4CD4-C170-78AC-83C3ECAA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5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3A50D-6BA8-2243-AC65-A80D98B9D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08DC2-862C-C5B3-9838-9715168F2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2DD3F-4CEF-AAC9-EB30-8F546DF2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0452-8445-7F71-0521-C6BA4603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04A85-38A2-9F6C-2AF5-00A17F83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01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D840F-0350-884C-0D34-D64245A16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5CF59-BE64-E476-5074-E70D10724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6F74-02D0-AD36-F82F-25B88CA38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F44A9-2FC1-470D-B3D1-0587DBD8E7FF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329D8-8836-48B4-C224-B05A7B4D3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98A06-8AE9-E92A-5EED-2CF0A243A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7B08E-1513-4A2F-9410-B0C607E1FC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37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A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raphic 2"/>
          <p:cNvPicPr/>
          <p:nvPr/>
        </p:nvPicPr>
        <p:blipFill>
          <a:blip r:embed="rId2"/>
          <a:stretch/>
        </p:blipFill>
        <p:spPr>
          <a:xfrm>
            <a:off x="4766624" y="361638"/>
            <a:ext cx="1883814" cy="452504"/>
          </a:xfrm>
          <a:prstGeom prst="rect">
            <a:avLst/>
          </a:prstGeom>
          <a:ln w="0">
            <a:noFill/>
          </a:ln>
        </p:spPr>
      </p:pic>
      <p:sp>
        <p:nvSpPr>
          <p:cNvPr id="93" name="TextBox 10"/>
          <p:cNvSpPr/>
          <p:nvPr/>
        </p:nvSpPr>
        <p:spPr>
          <a:xfrm>
            <a:off x="1081253" y="2228860"/>
            <a:ext cx="7758089" cy="367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4998" rIns="89997" bIns="44998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>
                <a:solidFill>
                  <a:srgbClr val="F2F2F2"/>
                </a:solidFill>
                <a:latin typeface="Calibri"/>
              </a:rPr>
              <a:t>1. 	GENE EMBEDDINGS &amp; </a:t>
            </a:r>
            <a:r>
              <a:rPr lang="en-IN" b="1" spc="-1" dirty="0">
                <a:solidFill>
                  <a:srgbClr val="F2F2F2"/>
                </a:solidFill>
              </a:rPr>
              <a:t>INSILICO PERTURBATION </a:t>
            </a:r>
            <a:endParaRPr lang="en-IN" spc="-1" dirty="0">
              <a:latin typeface="Arial"/>
            </a:endParaRPr>
          </a:p>
        </p:txBody>
      </p:sp>
      <p:sp>
        <p:nvSpPr>
          <p:cNvPr id="94" name="Straight Connector 11"/>
          <p:cNvSpPr/>
          <p:nvPr/>
        </p:nvSpPr>
        <p:spPr>
          <a:xfrm>
            <a:off x="1071535" y="2663725"/>
            <a:ext cx="7370742" cy="3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5" name="Straight Connector 13"/>
          <p:cNvSpPr/>
          <p:nvPr/>
        </p:nvSpPr>
        <p:spPr>
          <a:xfrm>
            <a:off x="1081253" y="3183546"/>
            <a:ext cx="7370742" cy="3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6" name="TextBox 15"/>
          <p:cNvSpPr/>
          <p:nvPr/>
        </p:nvSpPr>
        <p:spPr>
          <a:xfrm>
            <a:off x="1071535" y="2745082"/>
            <a:ext cx="6095307" cy="367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4998" rIns="89997" bIns="44998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>
                <a:solidFill>
                  <a:srgbClr val="F2F2F2"/>
                </a:solidFill>
                <a:latin typeface="Calibri"/>
              </a:rPr>
              <a:t>2.	</a:t>
            </a:r>
            <a:r>
              <a:rPr lang="en-IN" b="1" spc="-1" dirty="0">
                <a:solidFill>
                  <a:srgbClr val="F2F2F2"/>
                </a:solidFill>
              </a:rPr>
              <a:t> VCC AND PERTURBATION </a:t>
            </a:r>
            <a:r>
              <a:rPr lang="en-IN" b="1" spc="-1" dirty="0">
                <a:solidFill>
                  <a:srgbClr val="F2F2F2"/>
                </a:solidFill>
                <a:latin typeface="Calibri"/>
              </a:rPr>
              <a:t>	</a:t>
            </a:r>
            <a:endParaRPr lang="en-IN" spc="-1" dirty="0">
              <a:latin typeface="Arial"/>
            </a:endParaRPr>
          </a:p>
        </p:txBody>
      </p:sp>
      <p:sp>
        <p:nvSpPr>
          <p:cNvPr id="97" name="TextBox 17"/>
          <p:cNvSpPr/>
          <p:nvPr/>
        </p:nvSpPr>
        <p:spPr>
          <a:xfrm>
            <a:off x="1071535" y="3337981"/>
            <a:ext cx="6095307" cy="367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4998" rIns="89997" bIns="44998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>
                <a:solidFill>
                  <a:srgbClr val="F2F2F2"/>
                </a:solidFill>
                <a:latin typeface="Calibri"/>
              </a:rPr>
              <a:t>3.	</a:t>
            </a:r>
            <a:r>
              <a:rPr lang="en-IN" b="1" spc="-1" dirty="0">
                <a:solidFill>
                  <a:srgbClr val="F2F2F2"/>
                </a:solidFill>
              </a:rPr>
              <a:t> GENEFORMER’s PERTURBATION IN VCC</a:t>
            </a:r>
            <a:endParaRPr lang="en-IN" spc="-1" dirty="0">
              <a:latin typeface="Arial"/>
            </a:endParaRPr>
          </a:p>
        </p:txBody>
      </p:sp>
      <p:sp>
        <p:nvSpPr>
          <p:cNvPr id="98" name="TextBox 19"/>
          <p:cNvSpPr/>
          <p:nvPr/>
        </p:nvSpPr>
        <p:spPr>
          <a:xfrm>
            <a:off x="1081253" y="3833684"/>
            <a:ext cx="6095307" cy="367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4998" rIns="89997" bIns="44998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>
                <a:solidFill>
                  <a:srgbClr val="F2F2F2"/>
                </a:solidFill>
                <a:latin typeface="Calibri"/>
              </a:rPr>
              <a:t>4.	</a:t>
            </a:r>
            <a:r>
              <a:rPr lang="en-IN" b="1" spc="-1" dirty="0">
                <a:solidFill>
                  <a:srgbClr val="F2F2F2"/>
                </a:solidFill>
              </a:rPr>
              <a:t> RESULTS</a:t>
            </a:r>
            <a:endParaRPr lang="en-IN" spc="-1" dirty="0">
              <a:latin typeface="Arial"/>
            </a:endParaRPr>
          </a:p>
        </p:txBody>
      </p:sp>
      <p:sp>
        <p:nvSpPr>
          <p:cNvPr id="99" name="Straight Connector 24"/>
          <p:cNvSpPr/>
          <p:nvPr/>
        </p:nvSpPr>
        <p:spPr>
          <a:xfrm>
            <a:off x="1081253" y="3707328"/>
            <a:ext cx="7370742" cy="360"/>
          </a:xfrm>
          <a:prstGeom prst="line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1" name="TextBox 4"/>
          <p:cNvSpPr/>
          <p:nvPr/>
        </p:nvSpPr>
        <p:spPr>
          <a:xfrm>
            <a:off x="1081253" y="1337564"/>
            <a:ext cx="6095307" cy="367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9997" tIns="44998" rIns="89997" bIns="44998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spc="-1" dirty="0">
                <a:solidFill>
                  <a:srgbClr val="FFFFFF"/>
                </a:solidFill>
                <a:latin typeface="Calibri"/>
              </a:rPr>
              <a:t>AGENDA FOR DISCUSSION</a:t>
            </a:r>
            <a:r>
              <a:rPr lang="en-IN" b="1" spc="-1" dirty="0">
                <a:solidFill>
                  <a:srgbClr val="F2F2F2"/>
                </a:solidFill>
                <a:latin typeface="Calibri"/>
              </a:rPr>
              <a:t> </a:t>
            </a:r>
            <a:endParaRPr lang="en-IN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3C7A6-1A4E-D7C3-5CC9-303028A51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6B30DF-92A1-AF17-93F1-CCA06E05B9E0}"/>
              </a:ext>
            </a:extLst>
          </p:cNvPr>
          <p:cNvSpPr/>
          <p:nvPr/>
        </p:nvSpPr>
        <p:spPr>
          <a:xfrm>
            <a:off x="121320" y="2817092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Cell X Gene matrix</a:t>
            </a:r>
          </a:p>
        </p:txBody>
      </p:sp>
      <p:pic>
        <p:nvPicPr>
          <p:cNvPr id="6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9E56F44A-ECBF-C015-F856-A3B523503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7" y="3176816"/>
            <a:ext cx="1745329" cy="12184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BA2DD1-E763-E560-E5CD-AD65DCBF50EC}"/>
              </a:ext>
            </a:extLst>
          </p:cNvPr>
          <p:cNvSpPr txBox="1"/>
          <p:nvPr/>
        </p:nvSpPr>
        <p:spPr>
          <a:xfrm>
            <a:off x="2335895" y="2627827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2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C39024-4F01-2DB0-F97F-C2A658B2DD51}"/>
              </a:ext>
            </a:extLst>
          </p:cNvPr>
          <p:cNvSpPr/>
          <p:nvPr/>
        </p:nvSpPr>
        <p:spPr>
          <a:xfrm>
            <a:off x="5625218" y="2060162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391F6B-F759-B3BF-2683-035C944820B3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858976" y="3781989"/>
            <a:ext cx="476919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054A63-1E6D-DECB-7E33-13B7C3F80F3B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>
            <a:off x="3360928" y="3781989"/>
            <a:ext cx="2264290" cy="1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B3197A-D80E-3576-5381-444FE8786527}"/>
              </a:ext>
            </a:extLst>
          </p:cNvPr>
          <p:cNvSpPr txBox="1"/>
          <p:nvPr/>
        </p:nvSpPr>
        <p:spPr>
          <a:xfrm>
            <a:off x="8040406" y="2946984"/>
            <a:ext cx="3918477" cy="1709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108847" tIns="54423" rIns="108847" bIns="54423" anchorCtr="0" compatLnSpc="0"/>
          <a:lstStyle/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TP53: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[ 0.12, -0.45,  1.03, ..., -0.18,  0.77 ]   ← 768 dim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EGFR: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 1.02, -0.44 ]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BRCA1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[ 0.88,  0.14, -0.67, ..., -0.09,  0.51 ]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42D4E1-9E9D-26FC-DDA9-D3CE905E30D8}"/>
              </a:ext>
            </a:extLst>
          </p:cNvPr>
          <p:cNvCxnSpPr>
            <a:cxnSpLocks/>
            <a:stCxn id="11" idx="1"/>
            <a:endCxn id="21" idx="1"/>
          </p:cNvCxnSpPr>
          <p:nvPr/>
        </p:nvCxnSpPr>
        <p:spPr>
          <a:xfrm flipV="1">
            <a:off x="7401531" y="3801707"/>
            <a:ext cx="638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4">
            <a:extLst>
              <a:ext uri="{FF2B5EF4-FFF2-40B4-BE49-F238E27FC236}">
                <a16:creationId xmlns:a16="http://schemas.microsoft.com/office/drawing/2014/main" id="{D67678CC-EA85-60CC-A1BD-0F333D188418}"/>
              </a:ext>
            </a:extLst>
          </p:cNvPr>
          <p:cNvSpPr/>
          <p:nvPr/>
        </p:nvSpPr>
        <p:spPr>
          <a:xfrm>
            <a:off x="175319" y="64800"/>
            <a:ext cx="3925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pc="-1" dirty="0">
                <a:solidFill>
                  <a:srgbClr val="000000"/>
                </a:solidFill>
                <a:latin typeface="Calibri"/>
              </a:rPr>
              <a:t>GENE EMBEDDINGS USING GENEFORMER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3" name="Straight Connector 13">
            <a:extLst>
              <a:ext uri="{FF2B5EF4-FFF2-40B4-BE49-F238E27FC236}">
                <a16:creationId xmlns:a16="http://schemas.microsoft.com/office/drawing/2014/main" id="{D9F3E334-DBF5-23A9-C676-AEFFA45D49ED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59F56-80A0-2A15-209B-53E2BF2841C1}"/>
              </a:ext>
            </a:extLst>
          </p:cNvPr>
          <p:cNvSpPr txBox="1"/>
          <p:nvPr/>
        </p:nvSpPr>
        <p:spPr>
          <a:xfrm>
            <a:off x="1698760" y="5438057"/>
            <a:ext cx="239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Rank value Encodings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3E85C5-F115-D428-A72C-7834FDF0FFFA}"/>
              </a:ext>
            </a:extLst>
          </p:cNvPr>
          <p:cNvSpPr txBox="1"/>
          <p:nvPr/>
        </p:nvSpPr>
        <p:spPr>
          <a:xfrm>
            <a:off x="8077350" y="5757924"/>
            <a:ext cx="384606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Cell Embedding</a:t>
            </a:r>
          </a:p>
          <a:p>
            <a:pPr hangingPunct="0">
              <a:defRPr sz="8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-0.89,  1.14 ]   - 768 dim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160C63E-8BEC-AAA6-7070-DDD4DBC94EC4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>
            <a:off x="9999645" y="4656430"/>
            <a:ext cx="737" cy="110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5406265-9258-DA34-E2DD-B1D1A8CE318A}"/>
              </a:ext>
            </a:extLst>
          </p:cNvPr>
          <p:cNvSpPr/>
          <p:nvPr/>
        </p:nvSpPr>
        <p:spPr>
          <a:xfrm rot="16200000">
            <a:off x="-203209" y="1159667"/>
            <a:ext cx="862207" cy="191549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KEYS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96ED4A-BA17-ED8A-4BFF-7E1C2F4AF747}"/>
              </a:ext>
            </a:extLst>
          </p:cNvPr>
          <p:cNvSpPr txBox="1"/>
          <p:nvPr/>
        </p:nvSpPr>
        <p:spPr>
          <a:xfrm>
            <a:off x="312927" y="831188"/>
            <a:ext cx="4600817" cy="8617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Geneformer the foundation model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Rank value encodings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HVGs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What are gene embeddings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  <p:pic>
        <p:nvPicPr>
          <p:cNvPr id="41" name="Picture 40" descr="A blue circle with a dot&#10;&#10;AI-generated content may be incorrect.">
            <a:extLst>
              <a:ext uri="{FF2B5EF4-FFF2-40B4-BE49-F238E27FC236}">
                <a16:creationId xmlns:a16="http://schemas.microsoft.com/office/drawing/2014/main" id="{939FA924-58BE-1331-58BA-02B3FAC3C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44" y="1962388"/>
            <a:ext cx="717280" cy="74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6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D646C-06CA-1F88-A149-9547A3CB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 with a dot&#10;&#10;AI-generated content may be incorrect.">
            <a:extLst>
              <a:ext uri="{FF2B5EF4-FFF2-40B4-BE49-F238E27FC236}">
                <a16:creationId xmlns:a16="http://schemas.microsoft.com/office/drawing/2014/main" id="{03CF1445-EE2F-CDEE-5963-084D33B16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44" y="1962388"/>
            <a:ext cx="717280" cy="74574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CBA5F9-19B9-93F4-34C3-41657BE2E158}"/>
              </a:ext>
            </a:extLst>
          </p:cNvPr>
          <p:cNvSpPr/>
          <p:nvPr/>
        </p:nvSpPr>
        <p:spPr>
          <a:xfrm>
            <a:off x="121320" y="2817092"/>
            <a:ext cx="1745329" cy="3686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Cell X Gene matrix</a:t>
            </a:r>
          </a:p>
        </p:txBody>
      </p:sp>
      <p:pic>
        <p:nvPicPr>
          <p:cNvPr id="6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71316325-C504-4DF6-843C-63A4F9B39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47" y="3176816"/>
            <a:ext cx="1745329" cy="12184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2A7D92-8631-55DC-065B-2AEC14D26419}"/>
              </a:ext>
            </a:extLst>
          </p:cNvPr>
          <p:cNvSpPr txBox="1"/>
          <p:nvPr/>
        </p:nvSpPr>
        <p:spPr>
          <a:xfrm>
            <a:off x="2335895" y="2627827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highlight>
                  <a:srgbClr val="FF0000"/>
                </a:highlight>
                <a:latin typeface="Liberation Sans" pitchFamily="18"/>
                <a:ea typeface="Microsoft YaHei" pitchFamily="2"/>
                <a:cs typeface="Arial" pitchFamily="2"/>
              </a:rPr>
              <a:t>KRAS</a:t>
            </a: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2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536A10-3236-792F-0F34-84DD99D4CEA3}"/>
              </a:ext>
            </a:extLst>
          </p:cNvPr>
          <p:cNvSpPr/>
          <p:nvPr/>
        </p:nvSpPr>
        <p:spPr>
          <a:xfrm>
            <a:off x="5625218" y="2060162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8AF1CD-F4C2-37CD-07F6-EA88BA7EE60C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858976" y="3781989"/>
            <a:ext cx="476919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378449-803B-B8CC-3B11-84FE040EEC20}"/>
              </a:ext>
            </a:extLst>
          </p:cNvPr>
          <p:cNvCxnSpPr>
            <a:cxnSpLocks/>
            <a:stCxn id="8" idx="3"/>
            <a:endCxn id="11" idx="3"/>
          </p:cNvCxnSpPr>
          <p:nvPr/>
        </p:nvCxnSpPr>
        <p:spPr>
          <a:xfrm>
            <a:off x="3360928" y="3781989"/>
            <a:ext cx="2264290" cy="1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B8C692A-9B8F-6E25-7630-5F97E47C92A2}"/>
              </a:ext>
            </a:extLst>
          </p:cNvPr>
          <p:cNvSpPr txBox="1"/>
          <p:nvPr/>
        </p:nvSpPr>
        <p:spPr>
          <a:xfrm>
            <a:off x="8040406" y="2946984"/>
            <a:ext cx="3918477" cy="17094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wrap="square" lIns="108847" tIns="54423" rIns="108847" bIns="54423" anchorCtr="0" compatLnSpc="0"/>
          <a:lstStyle/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TP53: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[ 0.12, -0.45,  1.03, ..., -0.18,  0.77 ]   ← 768 dim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EGFR: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 1.02, -0.44 ]</a:t>
            </a:r>
          </a:p>
          <a:p>
            <a:pPr hangingPunct="0">
              <a:defRPr sz="10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BRCA1</a:t>
            </a:r>
          </a:p>
          <a:p>
            <a:pPr hangingPunct="0">
              <a:defRPr sz="10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[ 0.88,  0.14, -0.67, ..., -0.09,  0.51 ]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DC87C-2E58-C7B6-3996-45D099700F0C}"/>
              </a:ext>
            </a:extLst>
          </p:cNvPr>
          <p:cNvCxnSpPr>
            <a:cxnSpLocks/>
            <a:stCxn id="11" idx="1"/>
            <a:endCxn id="21" idx="1"/>
          </p:cNvCxnSpPr>
          <p:nvPr/>
        </p:nvCxnSpPr>
        <p:spPr>
          <a:xfrm flipV="1">
            <a:off x="7401531" y="3801707"/>
            <a:ext cx="6388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4">
            <a:extLst>
              <a:ext uri="{FF2B5EF4-FFF2-40B4-BE49-F238E27FC236}">
                <a16:creationId xmlns:a16="http://schemas.microsoft.com/office/drawing/2014/main" id="{ED807A29-DAD0-7F72-0544-C13B8792B6D4}"/>
              </a:ext>
            </a:extLst>
          </p:cNvPr>
          <p:cNvSpPr/>
          <p:nvPr/>
        </p:nvSpPr>
        <p:spPr>
          <a:xfrm>
            <a:off x="175319" y="64800"/>
            <a:ext cx="6142354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1600" b="1" spc="-1" dirty="0">
                <a:solidFill>
                  <a:srgbClr val="000000"/>
                </a:solidFill>
              </a:rPr>
              <a:t>INSILICO PERTURBATION USING GENEFORMER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600" b="0" strike="noStrike" spc="-1" dirty="0">
              <a:latin typeface="Arial"/>
            </a:endParaRPr>
          </a:p>
        </p:txBody>
      </p:sp>
      <p:sp>
        <p:nvSpPr>
          <p:cNvPr id="3" name="Straight Connector 13">
            <a:extLst>
              <a:ext uri="{FF2B5EF4-FFF2-40B4-BE49-F238E27FC236}">
                <a16:creationId xmlns:a16="http://schemas.microsoft.com/office/drawing/2014/main" id="{255C46D2-0066-1B19-41EE-0322F254A1B5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37A50-6089-A521-3DB7-871D0B87837A}"/>
              </a:ext>
            </a:extLst>
          </p:cNvPr>
          <p:cNvSpPr txBox="1"/>
          <p:nvPr/>
        </p:nvSpPr>
        <p:spPr>
          <a:xfrm>
            <a:off x="1698760" y="5438057"/>
            <a:ext cx="239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Rank value Encodings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B901C8-7925-0F5B-BBF5-74D67874C4F5}"/>
              </a:ext>
            </a:extLst>
          </p:cNvPr>
          <p:cNvSpPr txBox="1"/>
          <p:nvPr/>
        </p:nvSpPr>
        <p:spPr>
          <a:xfrm>
            <a:off x="8077350" y="5757924"/>
            <a:ext cx="3846064" cy="738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Cell Embedding</a:t>
            </a:r>
          </a:p>
          <a:p>
            <a:pPr hangingPunct="0">
              <a:defRPr sz="8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hangingPunct="0">
              <a:defRPr sz="800"/>
            </a:pPr>
            <a:r>
              <a:rPr lang="en-IN" sz="1000" dirty="0">
                <a:latin typeface="Liberation Sans" pitchFamily="18"/>
                <a:ea typeface="Microsoft YaHei" pitchFamily="2"/>
                <a:cs typeface="Arial" pitchFamily="2"/>
              </a:rPr>
              <a:t>[-0.34,  0.91,  0.22, ..., -0.89,  1.14 ]   - 768 dim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FD989E9-A0C4-0A55-1C30-678F8C25B4C8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>
            <a:off x="9999645" y="4656430"/>
            <a:ext cx="737" cy="1101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D693EB3-29DF-92C6-285C-90251BDCEC56}"/>
              </a:ext>
            </a:extLst>
          </p:cNvPr>
          <p:cNvSpPr txBox="1"/>
          <p:nvPr/>
        </p:nvSpPr>
        <p:spPr>
          <a:xfrm>
            <a:off x="3908976" y="2768272"/>
            <a:ext cx="1025033" cy="20928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4096 HVGs</a:t>
            </a:r>
          </a:p>
        </p:txBody>
      </p:sp>
      <p:pic>
        <p:nvPicPr>
          <p:cNvPr id="12" name="Picture 11" descr="A cartoon of a egg&#10;&#10;AI-generated content may be incorrect.">
            <a:extLst>
              <a:ext uri="{FF2B5EF4-FFF2-40B4-BE49-F238E27FC236}">
                <a16:creationId xmlns:a16="http://schemas.microsoft.com/office/drawing/2014/main" id="{3CC1D966-E8F0-ACD3-1679-C272BA31B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890" y="682688"/>
            <a:ext cx="945508" cy="11203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2A8EE9-15F8-0AF4-C7D2-6223B03469B3}"/>
              </a:ext>
            </a:extLst>
          </p:cNvPr>
          <p:cNvSpPr txBox="1"/>
          <p:nvPr/>
        </p:nvSpPr>
        <p:spPr>
          <a:xfrm>
            <a:off x="9125527" y="1837000"/>
            <a:ext cx="236450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000" dirty="0"/>
              <a:t>KRAS perturbed cell’s embedding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EE9ED-7F80-E773-A06E-6ABB71BED0C5}"/>
              </a:ext>
            </a:extLst>
          </p:cNvPr>
          <p:cNvSpPr/>
          <p:nvPr/>
        </p:nvSpPr>
        <p:spPr>
          <a:xfrm rot="16200000">
            <a:off x="-203209" y="1159667"/>
            <a:ext cx="862207" cy="191549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KEYS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0B2F40-FB8E-2E04-819A-FCBC5460FC63}"/>
              </a:ext>
            </a:extLst>
          </p:cNvPr>
          <p:cNvSpPr txBox="1"/>
          <p:nvPr/>
        </p:nvSpPr>
        <p:spPr>
          <a:xfrm>
            <a:off x="312928" y="831188"/>
            <a:ext cx="23748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83A33B-D046-9998-D2DE-F3131D09B574}"/>
              </a:ext>
            </a:extLst>
          </p:cNvPr>
          <p:cNvSpPr txBox="1"/>
          <p:nvPr/>
        </p:nvSpPr>
        <p:spPr>
          <a:xfrm>
            <a:off x="312927" y="831188"/>
            <a:ext cx="4600817" cy="8617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Geneformer the foundation model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Rank value encodings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HVGs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What are gene embeddings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72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A08073-A209-57FD-AF1B-59CC1632E7E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23669" y="2567448"/>
            <a:ext cx="4523977" cy="2724988"/>
          </a:xfrm>
          <a:prstGeom prst="rect">
            <a:avLst/>
          </a:prstGeom>
          <a:ln w="0"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6DA66C-1A0F-152C-31F3-72236FF6B495}"/>
              </a:ext>
            </a:extLst>
          </p:cNvPr>
          <p:cNvSpPr/>
          <p:nvPr/>
        </p:nvSpPr>
        <p:spPr>
          <a:xfrm rot="16200000">
            <a:off x="-203209" y="1159667"/>
            <a:ext cx="862207" cy="191549"/>
          </a:xfrm>
          <a:prstGeom prst="rect">
            <a:avLst/>
          </a:prstGeom>
          <a:solidFill>
            <a:srgbClr val="41B883"/>
          </a:solidFill>
          <a:ln>
            <a:solidFill>
              <a:srgbClr val="41B8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KEYS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93A28C39-860E-BC40-92C4-23B4CA6DFCFE}"/>
              </a:ext>
            </a:extLst>
          </p:cNvPr>
          <p:cNvSpPr/>
          <p:nvPr/>
        </p:nvSpPr>
        <p:spPr>
          <a:xfrm>
            <a:off x="175319" y="64800"/>
            <a:ext cx="6142354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1600" b="1" spc="-1" dirty="0">
                <a:solidFill>
                  <a:srgbClr val="000000"/>
                </a:solidFill>
              </a:rPr>
              <a:t>INSILICO PERTURBATION AT CELL EMBEDDING – REPRESENTATION 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600" b="0" strike="noStrike" spc="-1" dirty="0">
              <a:latin typeface="Arial"/>
            </a:endParaRPr>
          </a:p>
        </p:txBody>
      </p:sp>
      <p:sp>
        <p:nvSpPr>
          <p:cNvPr id="13" name="Straight Connector 13">
            <a:extLst>
              <a:ext uri="{FF2B5EF4-FFF2-40B4-BE49-F238E27FC236}">
                <a16:creationId xmlns:a16="http://schemas.microsoft.com/office/drawing/2014/main" id="{E93469DF-B2B5-A638-C50B-9A5B616CCDEF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F172BB-DF66-7F0F-39FC-6146EE94C24C}"/>
              </a:ext>
            </a:extLst>
          </p:cNvPr>
          <p:cNvSpPr txBox="1"/>
          <p:nvPr/>
        </p:nvSpPr>
        <p:spPr>
          <a:xfrm>
            <a:off x="312927" y="831188"/>
            <a:ext cx="4600817" cy="8617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Clustering nature of cell embeddings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knock out not only a single gene but also multiple genes at a time.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Cosine Shift concept  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IN" sz="1000" spc="-1" dirty="0"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en-IN" sz="1000" spc="-1" dirty="0">
                <a:latin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060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1052D2-C51B-EA28-D142-6A3A1E9B61ED}"/>
              </a:ext>
            </a:extLst>
          </p:cNvPr>
          <p:cNvSpPr/>
          <p:nvPr/>
        </p:nvSpPr>
        <p:spPr>
          <a:xfrm>
            <a:off x="175319" y="64800"/>
            <a:ext cx="6142354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n-IN" sz="1600" b="1" spc="-1" dirty="0">
                <a:solidFill>
                  <a:srgbClr val="000000"/>
                </a:solidFill>
              </a:rPr>
              <a:t>VCC AND PERTURBATION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600" b="0" strike="noStrike" spc="-1" dirty="0">
              <a:latin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1A15D5-605E-4125-E12C-1150A5B4382B}"/>
              </a:ext>
            </a:extLst>
          </p:cNvPr>
          <p:cNvSpPr/>
          <p:nvPr/>
        </p:nvSpPr>
        <p:spPr>
          <a:xfrm>
            <a:off x="175319" y="419572"/>
            <a:ext cx="11701222" cy="28508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8D839B-9BA2-88CD-2F3F-2D5F0DFE95CC}"/>
              </a:ext>
            </a:extLst>
          </p:cNvPr>
          <p:cNvSpPr txBox="1"/>
          <p:nvPr/>
        </p:nvSpPr>
        <p:spPr>
          <a:xfrm>
            <a:off x="251511" y="448910"/>
            <a:ext cx="125259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/>
              <a:t>TRAINING </a:t>
            </a:r>
          </a:p>
        </p:txBody>
      </p:sp>
      <p:pic>
        <p:nvPicPr>
          <p:cNvPr id="31" name="Picture 30" descr="A blue circle with a dot&#10;&#10;AI-generated content may be incorrect.">
            <a:extLst>
              <a:ext uri="{FF2B5EF4-FFF2-40B4-BE49-F238E27FC236}">
                <a16:creationId xmlns:a16="http://schemas.microsoft.com/office/drawing/2014/main" id="{9A2E7ED0-059D-DFD6-3F63-08A502AA6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7" y="801238"/>
            <a:ext cx="717280" cy="745743"/>
          </a:xfrm>
          <a:prstGeom prst="rect">
            <a:avLst/>
          </a:prstGeom>
        </p:spPr>
      </p:pic>
      <p:pic>
        <p:nvPicPr>
          <p:cNvPr id="32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DD27485F-B175-DFA7-1A75-4F243E5AC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88" y="1753044"/>
            <a:ext cx="1413582" cy="98684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038110A-EBE1-F124-7A98-6933B2D98074}"/>
              </a:ext>
            </a:extLst>
          </p:cNvPr>
          <p:cNvSpPr/>
          <p:nvPr/>
        </p:nvSpPr>
        <p:spPr>
          <a:xfrm>
            <a:off x="221498" y="1498538"/>
            <a:ext cx="1422572" cy="23621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Unperturbed cells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9AFC6D-58D5-529F-2458-091B89C1EAB0}"/>
              </a:ext>
            </a:extLst>
          </p:cNvPr>
          <p:cNvSpPr/>
          <p:nvPr/>
        </p:nvSpPr>
        <p:spPr>
          <a:xfrm>
            <a:off x="2316653" y="1074019"/>
            <a:ext cx="554185" cy="21257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g1,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g2,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g3,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g150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2FE296-5C53-065F-3486-C9A30347B692}"/>
              </a:ext>
            </a:extLst>
          </p:cNvPr>
          <p:cNvSpPr txBox="1"/>
          <p:nvPr/>
        </p:nvSpPr>
        <p:spPr>
          <a:xfrm>
            <a:off x="393266" y="2700957"/>
            <a:ext cx="14225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38 k cells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321D21-B4FC-7F88-70A5-C016B602418B}"/>
              </a:ext>
            </a:extLst>
          </p:cNvPr>
          <p:cNvSpPr txBox="1"/>
          <p:nvPr/>
        </p:nvSpPr>
        <p:spPr>
          <a:xfrm>
            <a:off x="2007230" y="574954"/>
            <a:ext cx="1422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List of genes to be perturbed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1F9A9C-EE60-0514-35CC-9E6C0B1590E4}"/>
              </a:ext>
            </a:extLst>
          </p:cNvPr>
          <p:cNvCxnSpPr>
            <a:cxnSpLocks/>
            <a:stCxn id="34" idx="3"/>
            <a:endCxn id="2100" idx="1"/>
          </p:cNvCxnSpPr>
          <p:nvPr/>
        </p:nvCxnSpPr>
        <p:spPr>
          <a:xfrm flipV="1">
            <a:off x="2870838" y="2136266"/>
            <a:ext cx="1903075" cy="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A cartoon of a egg&#10;&#10;AI-generated content may be incorrect.">
            <a:extLst>
              <a:ext uri="{FF2B5EF4-FFF2-40B4-BE49-F238E27FC236}">
                <a16:creationId xmlns:a16="http://schemas.microsoft.com/office/drawing/2014/main" id="{FBF5B07F-2E91-B3D8-C611-C06BACE74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804" y="1392567"/>
            <a:ext cx="577588" cy="68436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EE58AD6-449E-602F-2049-400022ED14DA}"/>
              </a:ext>
            </a:extLst>
          </p:cNvPr>
          <p:cNvSpPr txBox="1"/>
          <p:nvPr/>
        </p:nvSpPr>
        <p:spPr>
          <a:xfrm>
            <a:off x="10033502" y="937189"/>
            <a:ext cx="1422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Ground truth provided by VCC</a:t>
            </a:r>
            <a:endParaRPr lang="en-IN" sz="18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8819D91-D1E4-3555-916E-C9449D2F154E}"/>
              </a:ext>
            </a:extLst>
          </p:cNvPr>
          <p:cNvCxnSpPr>
            <a:cxnSpLocks/>
            <a:stCxn id="2093" idx="1"/>
          </p:cNvCxnSpPr>
          <p:nvPr/>
        </p:nvCxnSpPr>
        <p:spPr>
          <a:xfrm flipH="1">
            <a:off x="6096000" y="2132700"/>
            <a:ext cx="8878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B4FF894-227E-186C-6EDE-81876808004F}"/>
              </a:ext>
            </a:extLst>
          </p:cNvPr>
          <p:cNvSpPr/>
          <p:nvPr/>
        </p:nvSpPr>
        <p:spPr>
          <a:xfrm>
            <a:off x="175316" y="3320292"/>
            <a:ext cx="11701225" cy="14960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5" name="Picture 44" descr="A blue circle with a dot&#10;&#10;AI-generated content may be incorrect.">
            <a:extLst>
              <a:ext uri="{FF2B5EF4-FFF2-40B4-BE49-F238E27FC236}">
                <a16:creationId xmlns:a16="http://schemas.microsoft.com/office/drawing/2014/main" id="{26D1047A-2899-205E-E74E-7D2DD0C8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5" y="3759552"/>
            <a:ext cx="717280" cy="74574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128025C-0FC5-9D42-C8E6-0D5E95FC2D33}"/>
              </a:ext>
            </a:extLst>
          </p:cNvPr>
          <p:cNvSpPr txBox="1"/>
          <p:nvPr/>
        </p:nvSpPr>
        <p:spPr>
          <a:xfrm>
            <a:off x="247207" y="3347954"/>
            <a:ext cx="125259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/>
              <a:t>VALIDATION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14BD2B-07A3-7A1B-9BA3-F1EE53AF90B7}"/>
              </a:ext>
            </a:extLst>
          </p:cNvPr>
          <p:cNvSpPr/>
          <p:nvPr/>
        </p:nvSpPr>
        <p:spPr>
          <a:xfrm>
            <a:off x="2334876" y="3428207"/>
            <a:ext cx="554185" cy="1347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g1,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g2,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g3,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g50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12DF6B-0910-C836-B1ED-3E59E12B3D6F}"/>
              </a:ext>
            </a:extLst>
          </p:cNvPr>
          <p:cNvCxnSpPr>
            <a:cxnSpLocks/>
            <a:stCxn id="47" idx="3"/>
            <a:endCxn id="2098" idx="1"/>
          </p:cNvCxnSpPr>
          <p:nvPr/>
        </p:nvCxnSpPr>
        <p:spPr>
          <a:xfrm flipV="1">
            <a:off x="2889061" y="4074266"/>
            <a:ext cx="1915647" cy="27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031368C-9D9C-175B-2848-D774CA1EF583}"/>
              </a:ext>
            </a:extLst>
          </p:cNvPr>
          <p:cNvSpPr txBox="1"/>
          <p:nvPr/>
        </p:nvSpPr>
        <p:spPr>
          <a:xfrm>
            <a:off x="1781196" y="1958285"/>
            <a:ext cx="4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194066-95A4-D133-DA9B-0DEDD1C3FD9D}"/>
              </a:ext>
            </a:extLst>
          </p:cNvPr>
          <p:cNvSpPr txBox="1"/>
          <p:nvPr/>
        </p:nvSpPr>
        <p:spPr>
          <a:xfrm>
            <a:off x="1708479" y="3947758"/>
            <a:ext cx="4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0E75C2D-EC87-46AA-AA55-A88B2742196D}"/>
              </a:ext>
            </a:extLst>
          </p:cNvPr>
          <p:cNvCxnSpPr>
            <a:cxnSpLocks/>
            <a:stCxn id="2098" idx="3"/>
            <a:endCxn id="57" idx="1"/>
          </p:cNvCxnSpPr>
          <p:nvPr/>
        </p:nvCxnSpPr>
        <p:spPr>
          <a:xfrm flipV="1">
            <a:off x="6152241" y="4068305"/>
            <a:ext cx="1059985" cy="5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F928B7D-0A4F-4844-D7F8-AC6FBB5F4029}"/>
              </a:ext>
            </a:extLst>
          </p:cNvPr>
          <p:cNvSpPr txBox="1"/>
          <p:nvPr/>
        </p:nvSpPr>
        <p:spPr>
          <a:xfrm>
            <a:off x="7212226" y="3837472"/>
            <a:ext cx="12014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Predict expression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AC607C-4752-BE76-06DF-8A938567E3B1}"/>
              </a:ext>
            </a:extLst>
          </p:cNvPr>
          <p:cNvSpPr/>
          <p:nvPr/>
        </p:nvSpPr>
        <p:spPr>
          <a:xfrm>
            <a:off x="175316" y="4896145"/>
            <a:ext cx="11701225" cy="17390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E2EBE7-28C4-5191-9276-B832AD4046A3}"/>
              </a:ext>
            </a:extLst>
          </p:cNvPr>
          <p:cNvSpPr txBox="1"/>
          <p:nvPr/>
        </p:nvSpPr>
        <p:spPr>
          <a:xfrm>
            <a:off x="243651" y="4992347"/>
            <a:ext cx="125259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b="1" dirty="0"/>
              <a:t>TEST </a:t>
            </a:r>
          </a:p>
        </p:txBody>
      </p:sp>
      <p:pic>
        <p:nvPicPr>
          <p:cNvPr id="60" name="Picture 59" descr="A blue circle with a dot&#10;&#10;AI-generated content may be incorrect.">
            <a:extLst>
              <a:ext uri="{FF2B5EF4-FFF2-40B4-BE49-F238E27FC236}">
                <a16:creationId xmlns:a16="http://schemas.microsoft.com/office/drawing/2014/main" id="{E1E63395-2BC1-0FC3-7BF3-8A13A2DD6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7" y="5553340"/>
            <a:ext cx="717280" cy="745743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B1E47268-EF45-F18A-38FA-D689CE498F65}"/>
              </a:ext>
            </a:extLst>
          </p:cNvPr>
          <p:cNvSpPr/>
          <p:nvPr/>
        </p:nvSpPr>
        <p:spPr>
          <a:xfrm>
            <a:off x="2334877" y="5156945"/>
            <a:ext cx="554185" cy="1347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g1,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g2,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g3,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..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g100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BD3CAA-46F7-4C60-8809-EDDCFF9CED90}"/>
              </a:ext>
            </a:extLst>
          </p:cNvPr>
          <p:cNvSpPr txBox="1"/>
          <p:nvPr/>
        </p:nvSpPr>
        <p:spPr>
          <a:xfrm>
            <a:off x="1708480" y="5730027"/>
            <a:ext cx="41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+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C19AD956-6CCF-19B4-FA49-7CDE8215791E}"/>
              </a:ext>
            </a:extLst>
          </p:cNvPr>
          <p:cNvSpPr txBox="1"/>
          <p:nvPr/>
        </p:nvSpPr>
        <p:spPr>
          <a:xfrm>
            <a:off x="7212225" y="5617731"/>
            <a:ext cx="12014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Predict expression</a:t>
            </a:r>
          </a:p>
        </p:txBody>
      </p:sp>
      <p:cxnSp>
        <p:nvCxnSpPr>
          <p:cNvPr id="2052" name="Straight Arrow Connector 2051">
            <a:extLst>
              <a:ext uri="{FF2B5EF4-FFF2-40B4-BE49-F238E27FC236}">
                <a16:creationId xmlns:a16="http://schemas.microsoft.com/office/drawing/2014/main" id="{ADAB93D4-13BD-39FA-B5F6-6A163C8B6000}"/>
              </a:ext>
            </a:extLst>
          </p:cNvPr>
          <p:cNvCxnSpPr>
            <a:cxnSpLocks/>
          </p:cNvCxnSpPr>
          <p:nvPr/>
        </p:nvCxnSpPr>
        <p:spPr>
          <a:xfrm flipV="1">
            <a:off x="6159971" y="5817663"/>
            <a:ext cx="1052255" cy="13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93" name="Table 2092">
            <a:extLst>
              <a:ext uri="{FF2B5EF4-FFF2-40B4-BE49-F238E27FC236}">
                <a16:creationId xmlns:a16="http://schemas.microsoft.com/office/drawing/2014/main" id="{365D7420-4378-E94B-5896-3510E2E38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697696"/>
              </p:ext>
            </p:extLst>
          </p:nvPr>
        </p:nvGraphicFramePr>
        <p:xfrm>
          <a:off x="6983863" y="1319840"/>
          <a:ext cx="2463906" cy="162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1953">
                  <a:extLst>
                    <a:ext uri="{9D8B030D-6E8A-4147-A177-3AD203B41FA5}">
                      <a16:colId xmlns:a16="http://schemas.microsoft.com/office/drawing/2014/main" val="1571873313"/>
                    </a:ext>
                  </a:extLst>
                </a:gridCol>
                <a:gridCol w="1231953">
                  <a:extLst>
                    <a:ext uri="{9D8B030D-6E8A-4147-A177-3AD203B41FA5}">
                      <a16:colId xmlns:a16="http://schemas.microsoft.com/office/drawing/2014/main" val="258643521"/>
                    </a:ext>
                  </a:extLst>
                </a:gridCol>
              </a:tblGrid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Perturbed 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No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90879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14134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397541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3750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454709"/>
                  </a:ext>
                </a:extLst>
              </a:tr>
              <a:tr h="325144">
                <a:tc>
                  <a:txBody>
                    <a:bodyPr/>
                    <a:lstStyle/>
                    <a:p>
                      <a:r>
                        <a:rPr lang="en-IN" sz="1200" dirty="0"/>
                        <a:t>g150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02067"/>
                  </a:ext>
                </a:extLst>
              </a:tr>
            </a:tbl>
          </a:graphicData>
        </a:graphic>
      </p:graphicFrame>
      <p:pic>
        <p:nvPicPr>
          <p:cNvPr id="2098" name="Picture 6" descr="3+ Thousand Artificial Neural Network Architectures Royalty-Free Images,  Stock Photos &amp; Pictures | Shutterstock">
            <a:extLst>
              <a:ext uri="{FF2B5EF4-FFF2-40B4-BE49-F238E27FC236}">
                <a16:creationId xmlns:a16="http://schemas.microsoft.com/office/drawing/2014/main" id="{37725D1E-1F71-8180-829E-CAABA1AE0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708" y="3400499"/>
            <a:ext cx="1347533" cy="13475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0" name="Picture 6" descr="3+ Thousand Artificial Neural Network Architectures Royalty-Free Images,  Stock Photos &amp; Pictures | Shutterstock">
            <a:extLst>
              <a:ext uri="{FF2B5EF4-FFF2-40B4-BE49-F238E27FC236}">
                <a16:creationId xmlns:a16="http://schemas.microsoft.com/office/drawing/2014/main" id="{83348AB4-906D-3739-B6DB-52BC53F6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913" y="1462499"/>
            <a:ext cx="1347533" cy="13475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2" name="Picture 6" descr="3+ Thousand Artificial Neural Network Architectures Royalty-Free Images,  Stock Photos &amp; Pictures | Shutterstock">
            <a:extLst>
              <a:ext uri="{FF2B5EF4-FFF2-40B4-BE49-F238E27FC236}">
                <a16:creationId xmlns:a16="http://schemas.microsoft.com/office/drawing/2014/main" id="{307E580A-FF68-4890-F28D-DE04FCA5F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438" y="5130847"/>
            <a:ext cx="1347533" cy="13475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03" name="Straight Arrow Connector 2102">
            <a:extLst>
              <a:ext uri="{FF2B5EF4-FFF2-40B4-BE49-F238E27FC236}">
                <a16:creationId xmlns:a16="http://schemas.microsoft.com/office/drawing/2014/main" id="{F3898DC4-9308-B2B0-9B04-553D5AE6760A}"/>
              </a:ext>
            </a:extLst>
          </p:cNvPr>
          <p:cNvCxnSpPr>
            <a:cxnSpLocks/>
            <a:stCxn id="61" idx="3"/>
            <a:endCxn id="2102" idx="1"/>
          </p:cNvCxnSpPr>
          <p:nvPr/>
        </p:nvCxnSpPr>
        <p:spPr>
          <a:xfrm flipV="1">
            <a:off x="2889062" y="5804614"/>
            <a:ext cx="1923376" cy="2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158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7CEBEE-1F64-6DDD-FD05-75DE005EEA3D}"/>
              </a:ext>
            </a:extLst>
          </p:cNvPr>
          <p:cNvSpPr/>
          <p:nvPr/>
        </p:nvSpPr>
        <p:spPr>
          <a:xfrm>
            <a:off x="175319" y="64800"/>
            <a:ext cx="3925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pc="-1" dirty="0">
                <a:solidFill>
                  <a:srgbClr val="000000"/>
                </a:solidFill>
                <a:latin typeface="Calibri"/>
              </a:rPr>
              <a:t>3. GENEFORMER FOR VCC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05C9F102-8F19-7171-A545-857C60D68492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8C493B69-738A-3BE2-63AD-20FD1340497A}"/>
              </a:ext>
            </a:extLst>
          </p:cNvPr>
          <p:cNvSpPr/>
          <p:nvPr/>
        </p:nvSpPr>
        <p:spPr>
          <a:xfrm>
            <a:off x="175319" y="577418"/>
            <a:ext cx="483457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trike="noStrike" spc="-1" dirty="0">
                <a:solidFill>
                  <a:srgbClr val="000000"/>
                </a:solidFill>
                <a:latin typeface="Calibri"/>
              </a:rPr>
              <a:t>3. 1. Limitations of using Geneformer Decoder</a:t>
            </a:r>
          </a:p>
          <a:p>
            <a:pPr>
              <a:lnSpc>
                <a:spcPct val="100000"/>
              </a:lnSpc>
            </a:pPr>
            <a:endParaRPr lang="en-IN" sz="1600" b="1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IN" sz="16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21626E4-ADDF-418F-2061-2148D17F548E}"/>
              </a:ext>
            </a:extLst>
          </p:cNvPr>
          <p:cNvSpPr/>
          <p:nvPr/>
        </p:nvSpPr>
        <p:spPr>
          <a:xfrm>
            <a:off x="4121735" y="1687448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9" name="Picture 8" descr="A blue circle with a dot&#10;&#10;AI-generated content may be incorrect.">
            <a:extLst>
              <a:ext uri="{FF2B5EF4-FFF2-40B4-BE49-F238E27FC236}">
                <a16:creationId xmlns:a16="http://schemas.microsoft.com/office/drawing/2014/main" id="{E8696B38-957D-4AEF-9674-19EE28113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4" y="2100199"/>
            <a:ext cx="717280" cy="7457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D14ED6-6850-965B-DE0A-56921F59A474}"/>
              </a:ext>
            </a:extLst>
          </p:cNvPr>
          <p:cNvSpPr txBox="1"/>
          <p:nvPr/>
        </p:nvSpPr>
        <p:spPr>
          <a:xfrm>
            <a:off x="2046558" y="227483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DBCB0-AC6B-D249-6DE0-A3DFDAE6EB25}"/>
              </a:ext>
            </a:extLst>
          </p:cNvPr>
          <p:cNvSpPr txBox="1"/>
          <p:nvPr/>
        </p:nvSpPr>
        <p:spPr>
          <a:xfrm>
            <a:off x="121320" y="5534235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pic>
        <p:nvPicPr>
          <p:cNvPr id="12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E2BB3BF5-8DB5-D246-8468-C4887D540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20" y="294483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CBBA9FC-5A5B-46C9-8C6F-D5F4FABB3635}"/>
              </a:ext>
            </a:extLst>
          </p:cNvPr>
          <p:cNvCxnSpPr>
            <a:stCxn id="12" idx="3"/>
          </p:cNvCxnSpPr>
          <p:nvPr/>
        </p:nvCxnSpPr>
        <p:spPr>
          <a:xfrm>
            <a:off x="1508366" y="3428994"/>
            <a:ext cx="53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300687-9C7D-566F-B37B-0C414BB7C394}"/>
              </a:ext>
            </a:extLst>
          </p:cNvPr>
          <p:cNvCxnSpPr>
            <a:stCxn id="10" idx="3"/>
            <a:endCxn id="8" idx="3"/>
          </p:cNvCxnSpPr>
          <p:nvPr/>
        </p:nvCxnSpPr>
        <p:spPr>
          <a:xfrm>
            <a:off x="3071591" y="3428994"/>
            <a:ext cx="105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63FDB9-9EC9-9663-570B-759B39231BD3}"/>
              </a:ext>
            </a:extLst>
          </p:cNvPr>
          <p:cNvSpPr txBox="1"/>
          <p:nvPr/>
        </p:nvSpPr>
        <p:spPr>
          <a:xfrm>
            <a:off x="2046558" y="5534235"/>
            <a:ext cx="10250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DDCF31-FDD0-51E9-7CFF-B473ED20B1E1}"/>
              </a:ext>
            </a:extLst>
          </p:cNvPr>
          <p:cNvSpPr txBox="1"/>
          <p:nvPr/>
        </p:nvSpPr>
        <p:spPr>
          <a:xfrm>
            <a:off x="205157" y="1256660"/>
            <a:ext cx="1219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Cell x gene         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04E29-3E1E-FC64-AB57-624750370428}"/>
              </a:ext>
            </a:extLst>
          </p:cNvPr>
          <p:cNvSpPr txBox="1"/>
          <p:nvPr/>
        </p:nvSpPr>
        <p:spPr>
          <a:xfrm>
            <a:off x="2046557" y="5995900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35D5FFC-C058-0221-AE27-27EDD6A5E725}"/>
              </a:ext>
            </a:extLst>
          </p:cNvPr>
          <p:cNvSpPr/>
          <p:nvPr/>
        </p:nvSpPr>
        <p:spPr>
          <a:xfrm>
            <a:off x="7063516" y="1687448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</a:t>
            </a:r>
          </a:p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Decoder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E64E63-7A18-33EE-8CB9-3C1BD119BE75}"/>
              </a:ext>
            </a:extLst>
          </p:cNvPr>
          <p:cNvSpPr txBox="1"/>
          <p:nvPr/>
        </p:nvSpPr>
        <p:spPr>
          <a:xfrm>
            <a:off x="9911321" y="227483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7322D1-1988-B446-61EF-E7A6F671F9BC}"/>
              </a:ext>
            </a:extLst>
          </p:cNvPr>
          <p:cNvSpPr txBox="1"/>
          <p:nvPr/>
        </p:nvSpPr>
        <p:spPr>
          <a:xfrm>
            <a:off x="9932918" y="5621980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FCF5C9B6-B917-EF9B-2A17-ED8CAEE66065}"/>
              </a:ext>
            </a:extLst>
          </p:cNvPr>
          <p:cNvCxnSpPr>
            <a:stCxn id="8" idx="0"/>
            <a:endCxn id="25" idx="2"/>
          </p:cNvCxnSpPr>
          <p:nvPr/>
        </p:nvCxnSpPr>
        <p:spPr>
          <a:xfrm rot="16200000" flipH="1">
            <a:off x="4739236" y="1958103"/>
            <a:ext cx="3483091" cy="2941781"/>
          </a:xfrm>
          <a:prstGeom prst="bentConnector5">
            <a:avLst>
              <a:gd name="adj1" fmla="val -6563"/>
              <a:gd name="adj2" fmla="val 50000"/>
              <a:gd name="adj3" fmla="val 1065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8A74590-0108-3626-0BEF-095306441385}"/>
              </a:ext>
            </a:extLst>
          </p:cNvPr>
          <p:cNvCxnSpPr>
            <a:stCxn id="25" idx="0"/>
            <a:endCxn id="26" idx="1"/>
          </p:cNvCxnSpPr>
          <p:nvPr/>
        </p:nvCxnSpPr>
        <p:spPr>
          <a:xfrm rot="16200000" flipH="1">
            <a:off x="8060724" y="1578397"/>
            <a:ext cx="1741546" cy="1959648"/>
          </a:xfrm>
          <a:prstGeom prst="bentConnector4">
            <a:avLst>
              <a:gd name="adj1" fmla="val -13126"/>
              <a:gd name="adj2" fmla="val 726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50B30C2-17D6-8964-213F-41519B247F8C}"/>
              </a:ext>
            </a:extLst>
          </p:cNvPr>
          <p:cNvSpPr txBox="1"/>
          <p:nvPr/>
        </p:nvSpPr>
        <p:spPr>
          <a:xfrm>
            <a:off x="130556" y="5995900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B1BECA-A81F-741A-97CC-5B70AA137FFE}"/>
              </a:ext>
            </a:extLst>
          </p:cNvPr>
          <p:cNvSpPr txBox="1"/>
          <p:nvPr/>
        </p:nvSpPr>
        <p:spPr>
          <a:xfrm>
            <a:off x="9932918" y="6083645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63626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9D6C-8BB9-D557-A533-4FE75E09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7B2B56-AA60-206A-2BE3-017E5DDCEC40}"/>
              </a:ext>
            </a:extLst>
          </p:cNvPr>
          <p:cNvSpPr/>
          <p:nvPr/>
        </p:nvSpPr>
        <p:spPr>
          <a:xfrm>
            <a:off x="175319" y="64800"/>
            <a:ext cx="3925625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pc="-1" dirty="0">
                <a:solidFill>
                  <a:srgbClr val="000000"/>
                </a:solidFill>
                <a:latin typeface="Calibri"/>
              </a:rPr>
              <a:t>3. GENEFORMER FOR VCC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6" name="Straight Connector 13">
            <a:extLst>
              <a:ext uri="{FF2B5EF4-FFF2-40B4-BE49-F238E27FC236}">
                <a16:creationId xmlns:a16="http://schemas.microsoft.com/office/drawing/2014/main" id="{72B70ADD-32A2-B026-D118-58409E4A6605}"/>
              </a:ext>
            </a:extLst>
          </p:cNvPr>
          <p:cNvSpPr/>
          <p:nvPr/>
        </p:nvSpPr>
        <p:spPr>
          <a:xfrm>
            <a:off x="121320" y="450360"/>
            <a:ext cx="11918880" cy="360"/>
          </a:xfrm>
          <a:prstGeom prst="line">
            <a:avLst/>
          </a:prstGeom>
          <a:ln>
            <a:solidFill>
              <a:srgbClr val="E7E6E6">
                <a:lumMod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95FAC66-CBF4-3644-9E9C-505D4CF71363}"/>
              </a:ext>
            </a:extLst>
          </p:cNvPr>
          <p:cNvSpPr/>
          <p:nvPr/>
        </p:nvSpPr>
        <p:spPr>
          <a:xfrm>
            <a:off x="175319" y="577418"/>
            <a:ext cx="4834572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600" b="1" strike="noStrike" spc="-1" dirty="0">
                <a:solidFill>
                  <a:srgbClr val="000000"/>
                </a:solidFill>
                <a:latin typeface="Calibri"/>
              </a:rPr>
              <a:t>3. 1. Limitations of using Geneformer Decoder</a:t>
            </a:r>
          </a:p>
          <a:p>
            <a:pPr>
              <a:lnSpc>
                <a:spcPct val="100000"/>
              </a:lnSpc>
            </a:pPr>
            <a:endParaRPr lang="en-IN" sz="1600" b="1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r>
              <a:rPr lang="en-IN" sz="16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43B4ECB-3286-02C3-FD57-8D935287406B}"/>
              </a:ext>
            </a:extLst>
          </p:cNvPr>
          <p:cNvSpPr/>
          <p:nvPr/>
        </p:nvSpPr>
        <p:spPr>
          <a:xfrm>
            <a:off x="4144439" y="1687447"/>
            <a:ext cx="1776313" cy="348309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300" b="1"/>
            </a:pPr>
            <a:r>
              <a:rPr lang="en-IN" sz="1200" b="1" dirty="0">
                <a:latin typeface="Liberation Sans" pitchFamily="18"/>
                <a:ea typeface="Microsoft YaHei" pitchFamily="2"/>
                <a:cs typeface="Arial" pitchFamily="2"/>
              </a:rPr>
              <a:t>GENEFORMER Encoder</a:t>
            </a:r>
          </a:p>
        </p:txBody>
      </p:sp>
      <p:pic>
        <p:nvPicPr>
          <p:cNvPr id="9" name="Picture 8" descr="A blue circle with a dot&#10;&#10;AI-generated content may be incorrect.">
            <a:extLst>
              <a:ext uri="{FF2B5EF4-FFF2-40B4-BE49-F238E27FC236}">
                <a16:creationId xmlns:a16="http://schemas.microsoft.com/office/drawing/2014/main" id="{7D1323A6-26D7-F8F1-BAA2-1D52E4DD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34" y="2100200"/>
            <a:ext cx="694576" cy="7221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F00508-A93D-E049-4404-7D7CCE4DAA1F}"/>
              </a:ext>
            </a:extLst>
          </p:cNvPr>
          <p:cNvSpPr txBox="1"/>
          <p:nvPr/>
        </p:nvSpPr>
        <p:spPr>
          <a:xfrm>
            <a:off x="2046558" y="2274832"/>
            <a:ext cx="102503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TP53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EGFR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BRCA1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MYC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KRAS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CDK1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…</a:t>
            </a:r>
          </a:p>
          <a:p>
            <a:pPr hangingPunct="0">
              <a:defRPr sz="800"/>
            </a:pPr>
            <a:endParaRPr lang="en-IN" sz="10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BCL2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PTEN 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ATM</a:t>
            </a:r>
            <a:endParaRPr lang="en-IN" sz="10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r>
              <a:rPr lang="en-IN" sz="1000" b="0" i="0" u="none" strike="noStrike" kern="1200" cap="none" dirty="0">
                <a:ln>
                  <a:noFill/>
                </a:ln>
                <a:latin typeface="Liberation Sans" pitchFamily="18"/>
                <a:ea typeface="Microsoft YaHei" pitchFamily="2"/>
                <a:cs typeface="Arial" pitchFamily="2"/>
              </a:rPr>
              <a:t>MAPK1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dirty="0">
              <a:latin typeface="Liberation Sans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800"/>
            </a:pPr>
            <a:endParaRPr lang="en-IN" sz="1200" b="0" i="0" u="none" strike="noStrike" kern="1200" cap="none" dirty="0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5F49E-A099-B049-7AA6-267E1B3D3717}"/>
              </a:ext>
            </a:extLst>
          </p:cNvPr>
          <p:cNvSpPr txBox="1"/>
          <p:nvPr/>
        </p:nvSpPr>
        <p:spPr>
          <a:xfrm>
            <a:off x="121320" y="5534235"/>
            <a:ext cx="100343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18080 genes per cell</a:t>
            </a:r>
          </a:p>
        </p:txBody>
      </p:sp>
      <p:pic>
        <p:nvPicPr>
          <p:cNvPr id="12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A447C83C-CF23-3155-BA23-5035EA8C9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20" y="294483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40A4B4-652F-1137-22B2-76EC1C20C8B8}"/>
              </a:ext>
            </a:extLst>
          </p:cNvPr>
          <p:cNvCxnSpPr>
            <a:stCxn id="12" idx="3"/>
          </p:cNvCxnSpPr>
          <p:nvPr/>
        </p:nvCxnSpPr>
        <p:spPr>
          <a:xfrm>
            <a:off x="1508366" y="3428994"/>
            <a:ext cx="53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447766-D0FB-D12C-D16D-CCF2F7544B66}"/>
              </a:ext>
            </a:extLst>
          </p:cNvPr>
          <p:cNvCxnSpPr>
            <a:stCxn id="10" idx="3"/>
            <a:endCxn id="8" idx="3"/>
          </p:cNvCxnSpPr>
          <p:nvPr/>
        </p:nvCxnSpPr>
        <p:spPr>
          <a:xfrm flipV="1">
            <a:off x="3071591" y="3428993"/>
            <a:ext cx="10728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FB13446-59ED-051E-686F-1C2487CA5E63}"/>
              </a:ext>
            </a:extLst>
          </p:cNvPr>
          <p:cNvSpPr txBox="1"/>
          <p:nvPr/>
        </p:nvSpPr>
        <p:spPr>
          <a:xfrm>
            <a:off x="2046558" y="5534235"/>
            <a:ext cx="102503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/>
              <a:t>4096 genes per cell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481250-0907-E493-D69D-EA186EFB6CEC}"/>
              </a:ext>
            </a:extLst>
          </p:cNvPr>
          <p:cNvSpPr txBox="1"/>
          <p:nvPr/>
        </p:nvSpPr>
        <p:spPr>
          <a:xfrm>
            <a:off x="205157" y="1256660"/>
            <a:ext cx="1219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Cell x gene            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559A13-A678-7A22-23BB-ECA32A7EA22C}"/>
              </a:ext>
            </a:extLst>
          </p:cNvPr>
          <p:cNvSpPr txBox="1"/>
          <p:nvPr/>
        </p:nvSpPr>
        <p:spPr>
          <a:xfrm>
            <a:off x="2046557" y="5995900"/>
            <a:ext cx="102503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Rank value Encodings             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EB33E1-3979-79D6-45A3-00C77866EAE9}"/>
              </a:ext>
            </a:extLst>
          </p:cNvPr>
          <p:cNvSpPr txBox="1"/>
          <p:nvPr/>
        </p:nvSpPr>
        <p:spPr>
          <a:xfrm>
            <a:off x="130556" y="5995900"/>
            <a:ext cx="100343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Cell X Gene             </a:t>
            </a:r>
          </a:p>
        </p:txBody>
      </p:sp>
      <p:pic>
        <p:nvPicPr>
          <p:cNvPr id="7170" name="Picture 2" descr="Custom Model Pre Trained Neural Network Back Propagation Algorithm  Royalty-Free Images, Stock Photos">
            <a:extLst>
              <a:ext uri="{FF2B5EF4-FFF2-40B4-BE49-F238E27FC236}">
                <a16:creationId xmlns:a16="http://schemas.microsoft.com/office/drawing/2014/main" id="{0C64C700-BA67-379E-5349-BA03DC881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07" r="30505"/>
          <a:stretch>
            <a:fillRect/>
          </a:stretch>
        </p:blipFill>
        <p:spPr bwMode="auto">
          <a:xfrm>
            <a:off x="7620000" y="2000242"/>
            <a:ext cx="2216728" cy="28575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B82B27A-BCDE-886A-A229-DA09C0004232}"/>
              </a:ext>
            </a:extLst>
          </p:cNvPr>
          <p:cNvCxnSpPr>
            <a:cxnSpLocks/>
            <a:stCxn id="8" idx="1"/>
            <a:endCxn id="7170" idx="1"/>
          </p:cNvCxnSpPr>
          <p:nvPr/>
        </p:nvCxnSpPr>
        <p:spPr>
          <a:xfrm flipV="1">
            <a:off x="5920752" y="3428992"/>
            <a:ext cx="169924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Generation of count matrix | Introduction to Single-cell RNA-seq - ARCHIVED">
            <a:extLst>
              <a:ext uri="{FF2B5EF4-FFF2-40B4-BE49-F238E27FC236}">
                <a16:creationId xmlns:a16="http://schemas.microsoft.com/office/drawing/2014/main" id="{3AD415F8-8D4E-F30E-89A1-5E6000FE5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6848" y="2944836"/>
            <a:ext cx="1387046" cy="96831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8EECC61-C339-46B3-78AE-8E0E06699EA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9836728" y="3428992"/>
            <a:ext cx="680120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92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A1F1E2-A0EF-0B02-2601-FB5D9DA534EF}"/>
              </a:ext>
            </a:extLst>
          </p:cNvPr>
          <p:cNvSpPr txBox="1"/>
          <p:nvPr/>
        </p:nvSpPr>
        <p:spPr>
          <a:xfrm>
            <a:off x="230909" y="3279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1" strike="noStrike" spc="-1" dirty="0">
                <a:solidFill>
                  <a:srgbClr val="000000"/>
                </a:solidFill>
                <a:latin typeface="Calibri"/>
              </a:rPr>
              <a:t>3. 2. </a:t>
            </a:r>
            <a:r>
              <a:rPr lang="en-IN" b="1" spc="-1" dirty="0">
                <a:solidFill>
                  <a:srgbClr val="000000"/>
                </a:solidFill>
                <a:latin typeface="Calibri"/>
              </a:rPr>
              <a:t>Design for the Model</a:t>
            </a:r>
            <a:endParaRPr lang="en-IN" sz="18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00037-9BD4-1817-51E5-226538C28341}"/>
              </a:ext>
            </a:extLst>
          </p:cNvPr>
          <p:cNvSpPr txBox="1"/>
          <p:nvPr/>
        </p:nvSpPr>
        <p:spPr>
          <a:xfrm>
            <a:off x="452582" y="108625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Cell input vector (4096)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1024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2048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4096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Dense + </a:t>
            </a:r>
            <a:r>
              <a:rPr lang="en-IN" sz="1200" dirty="0" err="1"/>
              <a:t>LayerNorm</a:t>
            </a:r>
            <a:r>
              <a:rPr lang="en-IN" sz="1200" dirty="0"/>
              <a:t> + GELU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8192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Output Layer</a:t>
            </a:r>
          </a:p>
          <a:p>
            <a:r>
              <a:rPr lang="en-IN" sz="1200" dirty="0"/>
              <a:t>        ↓</a:t>
            </a:r>
          </a:p>
          <a:p>
            <a:r>
              <a:rPr lang="en-IN" sz="1200" dirty="0"/>
              <a:t>18,080 gene expression values</a:t>
            </a:r>
          </a:p>
        </p:txBody>
      </p:sp>
      <p:pic>
        <p:nvPicPr>
          <p:cNvPr id="11" name="Picture 10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CA1A50D4-ABA3-B578-3845-0724E8E00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226" y="1186812"/>
            <a:ext cx="3077004" cy="1057423"/>
          </a:xfrm>
          <a:prstGeom prst="rect">
            <a:avLst/>
          </a:prstGeom>
        </p:spPr>
      </p:pic>
      <p:pic>
        <p:nvPicPr>
          <p:cNvPr id="13" name="Picture 12" descr="A black and white image of a star with a star in the middle&#10;&#10;AI-generated content may be incorrect.">
            <a:extLst>
              <a:ext uri="{FF2B5EF4-FFF2-40B4-BE49-F238E27FC236}">
                <a16:creationId xmlns:a16="http://schemas.microsoft.com/office/drawing/2014/main" id="{228B45BC-7BBD-B42E-1B66-1C2556406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427" y="3193175"/>
            <a:ext cx="4582914" cy="15451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5E4405-72A2-A16C-6862-1A4166E3EA02}"/>
              </a:ext>
            </a:extLst>
          </p:cNvPr>
          <p:cNvSpPr txBox="1"/>
          <p:nvPr/>
        </p:nvSpPr>
        <p:spPr>
          <a:xfrm>
            <a:off x="6428509" y="406400"/>
            <a:ext cx="374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MSE LOSS PER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469CB5-5D10-0767-DE94-D18287D28D49}"/>
              </a:ext>
            </a:extLst>
          </p:cNvPr>
          <p:cNvSpPr txBox="1"/>
          <p:nvPr/>
        </p:nvSpPr>
        <p:spPr>
          <a:xfrm>
            <a:off x="6428508" y="2285983"/>
            <a:ext cx="374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MSE LOSS FOR THE ENTIRE BATCH</a:t>
            </a:r>
          </a:p>
        </p:txBody>
      </p:sp>
    </p:spTree>
    <p:extLst>
      <p:ext uri="{BB962C8B-B14F-4D97-AF65-F5344CB8AC3E}">
        <p14:creationId xmlns:p14="http://schemas.microsoft.com/office/powerpoint/2010/main" val="2228959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550</Words>
  <Application>Microsoft Office PowerPoint</Application>
  <PresentationFormat>Widescreen</PresentationFormat>
  <Paragraphs>224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Liberation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Vasudev R</dc:creator>
  <cp:lastModifiedBy>Vasudev R</cp:lastModifiedBy>
  <cp:revision>1</cp:revision>
  <dcterms:created xsi:type="dcterms:W3CDTF">2025-12-15T17:33:04Z</dcterms:created>
  <dcterms:modified xsi:type="dcterms:W3CDTF">2025-12-16T03:04:51Z</dcterms:modified>
</cp:coreProperties>
</file>