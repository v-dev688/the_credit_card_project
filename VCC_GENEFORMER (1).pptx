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76" r:id="rId5"/>
    <p:sldId id="277" r:id="rId6"/>
    <p:sldId id="279" r:id="rId7"/>
    <p:sldId id="280" r:id="rId8"/>
    <p:sldId id="281" r:id="rId9"/>
    <p:sldId id="282" r:id="rId10"/>
    <p:sldId id="283" r:id="rId11"/>
    <p:sldId id="284" r:id="rId12"/>
    <p:sldId id="268" r:id="rId13"/>
    <p:sldId id="270" r:id="rId14"/>
    <p:sldId id="271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A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914F6-C953-62BC-5C6A-78C73046F307}" v="8" dt="2025-12-16T04:18:06.659"/>
    <p1510:client id="{366D97BB-09AD-D5E5-03F8-05C9AD4F42C8}" v="778" dt="2025-12-17T13:09:11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34366-4EC8-43B5-95E9-435AF637CD06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5F695-1777-43A7-B491-4060A99A2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5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2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0630-85F6-33C8-BFC8-00176117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A0311-50FE-5057-320E-FE2CC1C55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1EC5C-9254-333E-1DFA-9BDB64DA2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8EC02-5F38-4C03-968F-D9BCFC328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5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FF17-B6CD-5DD7-32E6-9D5B57C8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D615B-1D14-20FB-44A6-1D9A2855F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BA222-D19E-ED24-D643-36172245E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76B1-3042-2AB4-15A3-CA77C6FEA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4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0854-AB94-3886-7F86-7EF2D119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3BA06-6B45-BC3D-2BC9-B585C548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B30B4-5268-FF73-688A-527DCED0F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DFD33-E8F8-B742-ED4C-07CAD5A21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BFF4-C7FB-1E72-3F6F-5F587381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C179-3F36-59A6-C9DD-2D40B3D19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38ADF-E11E-A308-2889-2E9F1C1E1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026ED-69F5-A81B-F59E-F09E22B3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43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74C5-D4F5-633D-715E-BDE1523E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937B1-4D24-C431-11DE-FEF0792A9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E7491-2D1C-20BB-EC19-67F07C5A7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5CE95-9DC2-64E8-CCE0-367966D0F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14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8DEA-E120-41EE-95D6-AFB7F41C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29F99-7316-86AF-0437-B99C9E78F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DAABB-D69E-D5E0-966D-35FE67CC2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D61C5-9895-2E42-EDCD-9CC904D47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00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59E1-2D9A-0095-168D-6ADC2A89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0FDD8-37C2-DDA7-1376-994860984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65742-EB47-5B5B-164A-92D600F94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DB60C-B87D-D585-9186-723BD8775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81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9D4A-6D21-D12D-E0F5-B0859B49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1F94B-A75A-6952-9977-B496F0CD5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E4F21-CEEB-B4F1-50C7-09991FAE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D093B-D7E1-496B-246A-9488C1464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1DE9D-7D58-D046-BD1A-00ADCDF559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4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115A-6090-87B6-1CDB-1E2074A4D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724FA-9CA0-DFBD-947F-F77371DC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F961-099E-7C3D-3BBF-E3A320FB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83965-4797-271E-6B80-A126E5EF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CED60-D440-2B46-DDFD-B9A13739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E3DF-F611-797A-49A1-76DC6DF0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AE94-0CAD-9608-127A-5F58A3453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F8F6-1281-2455-867B-2AA9F6AD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EF23D-D446-BFD1-62BF-FC6ECAA9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2A70-CCA1-26D8-AF6B-86AB2AD1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39D4-D7E4-4DFD-F799-0A1922D2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2CCD4-C1FB-947D-50D0-BDB15EC9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E12F-092B-3C38-54FC-216C29C1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3DF67-278C-5088-DA73-3B59AF79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012E-0FD3-02C3-E901-04CF1F10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1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6D6-BF32-5507-EF34-85A2B312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7CCE-2205-40FB-6C07-74D1CA6EC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D55A-8E17-04D4-08EA-38245F49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30AFC-A1D6-9719-1202-E91C713B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41234-E2A4-A355-335B-5DF3F45A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8415-FEE8-EFED-7515-EC99537A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7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06DF-D829-DDFB-9F2B-EA6EB752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CFC4C-2AB5-E2EA-1617-BBF089FF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F69FA-6FFA-949C-F8A9-E6A15A69F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A05B3-8028-7388-E7C8-CDE6AC0C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6CCB5-642D-F89C-A142-B34DBB15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9E8A9-30E7-FE5E-89F4-3B5D947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ADFA5-5B38-0649-451C-07B55407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45D79-5E8C-4912-172C-153D67B5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1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B7CF-7709-F6E3-8617-F4EA795B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DB7F-F41E-64A3-4055-E393BCB8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B7EF0-6D2B-ABC8-EDA0-02E05A1A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B001-20D8-4A80-D99E-A3BA981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57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E87A6-9A6A-3AE2-90B1-6F3BD94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966DF-0EAB-DA74-C2EC-8D2C178F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2892A-8251-77B1-E907-76C3FEFB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4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0969-E081-9AFB-C360-E0E187D1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DF28-4248-54E7-0ABB-D3D6B7CA7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A561A-657B-ABDE-C664-49D21CFE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20E6E-81A7-5A9C-B879-6F06A212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EC4BF-0953-DB51-F929-16DF5D99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15EE3-0136-B989-04FB-6841B6E6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73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8328-02BE-5DAD-6815-7E7E1645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98B07-8627-CFD3-3241-E9E20109F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DD1-4B86-C170-8C4E-F547E8A58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56A0-CC19-103B-4539-402880FC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1CA1F-18A9-9A55-12CB-FC3E9360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6FE9-BAC2-17F0-411C-5C7D7FD8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9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C9F9-96DB-10D4-2C38-665A00B0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1CC3-0218-B334-A861-A621006D8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A5E8-06E7-7568-BA1C-AF5FF903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298B-2DDF-CCF9-DE77-9ADFAC8F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7C38-4CD4-C170-78AC-83C3ECAA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5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3A50D-6BA8-2243-AC65-A80D98B9D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08DC2-862C-C5B3-9838-9715168F2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DD3F-4CEF-AAC9-EB30-8F546DF2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0452-8445-7F71-0521-C6BA4603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4A85-38A2-9F6C-2AF5-00A17F83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10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D44906-3EBD-9E31-E3E3-EE39065E14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35485"/>
            <a:ext cx="12192001" cy="522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12D6B6-5498-DDF8-9930-370510CC31E3}"/>
              </a:ext>
            </a:extLst>
          </p:cNvPr>
          <p:cNvSpPr txBox="1"/>
          <p:nvPr userDrawn="1"/>
        </p:nvSpPr>
        <p:spPr>
          <a:xfrm>
            <a:off x="10858561" y="6461809"/>
            <a:ext cx="124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chemeClr val="bg1"/>
                </a:solidFill>
              </a:rPr>
              <a:t>www.thinkbio.ai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FFDEEBC-1C0E-5900-6F2D-AADD3A56D1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474" y="697255"/>
            <a:ext cx="2719526" cy="541022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2117F13-E943-C9FF-F5A6-CA313B69E9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444" y="6438153"/>
            <a:ext cx="1251305" cy="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6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840F-0350-884C-0D34-D64245A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5CF59-BE64-E476-5074-E70D1072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6F74-02D0-AD36-F82F-25B88CA38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44A9-2FC1-470D-B3D1-0587DBD8E7FF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29D8-8836-48B4-C224-B05A7B4D3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8A06-8AE9-E92A-5EED-2CF0A243A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7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molecule&#10;&#10;Description automatically generated">
            <a:extLst>
              <a:ext uri="{FF2B5EF4-FFF2-40B4-BE49-F238E27FC236}">
                <a16:creationId xmlns:a16="http://schemas.microsoft.com/office/drawing/2014/main" id="{1A3BDC64-D12B-3935-109F-E93B5D78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037A32-ED36-CBD7-4022-25E3E1867931}"/>
              </a:ext>
            </a:extLst>
          </p:cNvPr>
          <p:cNvSpPr txBox="1"/>
          <p:nvPr/>
        </p:nvSpPr>
        <p:spPr>
          <a:xfrm>
            <a:off x="1028928" y="2547377"/>
            <a:ext cx="6554624" cy="19890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5400" b="1" dirty="0">
                <a:solidFill>
                  <a:schemeClr val="bg1"/>
                </a:solidFill>
                <a:latin typeface="+mj-lt"/>
                <a:ea typeface="Calibri Light"/>
                <a:cs typeface="Calibri Light"/>
              </a:rPr>
              <a:t>Single Cell Perturbation Analysis With Geneformer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708CB2-77F4-8A7B-0211-043B4FB7A633}"/>
              </a:ext>
            </a:extLst>
          </p:cNvPr>
          <p:cNvSpPr txBox="1"/>
          <p:nvPr/>
        </p:nvSpPr>
        <p:spPr>
          <a:xfrm rot="16200000">
            <a:off x="-536271" y="5674409"/>
            <a:ext cx="17700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>
                <a:solidFill>
                  <a:schemeClr val="bg2">
                    <a:lumMod val="50000"/>
                  </a:schemeClr>
                </a:solidFill>
                <a:effectLst/>
              </a:rPr>
              <a:t>© ThinkBio.Ai All Right Reserved</a:t>
            </a:r>
            <a:endParaRPr lang="en-US" sz="90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6D468D-B5B9-C113-475A-687F2C98DCF9}"/>
              </a:ext>
            </a:extLst>
          </p:cNvPr>
          <p:cNvCxnSpPr>
            <a:cxnSpLocks/>
          </p:cNvCxnSpPr>
          <p:nvPr/>
        </p:nvCxnSpPr>
        <p:spPr>
          <a:xfrm>
            <a:off x="1142465" y="2361153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1">
            <a:extLst>
              <a:ext uri="{FF2B5EF4-FFF2-40B4-BE49-F238E27FC236}">
                <a16:creationId xmlns:a16="http://schemas.microsoft.com/office/drawing/2014/main" id="{0683B870-3919-84BD-4C2A-8D102528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96329" y="2913576"/>
            <a:ext cx="2826626" cy="6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6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E986-199F-443F-7561-0A6765FE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7E76B7-0C58-145C-3AB2-64734E24244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 panose="020B0004020202020204" pitchFamily="34" charset="0"/>
              </a:rPr>
              <a:t>Agenda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9450DD-74BF-E745-E9D1-3F73EB32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783" y="861351"/>
            <a:ext cx="7351366" cy="3262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44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ts val="11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ts val="8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ts val="5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Aptos SemiBold"/>
                <a:cs typeface="Calibri"/>
              </a:rPr>
              <a:t>Gene Embeddings and </a:t>
            </a:r>
            <a:r>
              <a:rPr lang="en-US" sz="2000" b="1" i="1" dirty="0" err="1">
                <a:latin typeface="Aptos SemiBold"/>
                <a:cs typeface="Calibri"/>
              </a:rPr>
              <a:t>Insilico</a:t>
            </a:r>
            <a:r>
              <a:rPr lang="en-US" sz="2000" b="1" i="1" dirty="0">
                <a:latin typeface="Aptos SemiBold"/>
                <a:cs typeface="Calibri"/>
              </a:rPr>
              <a:t> Perturbation</a:t>
            </a:r>
            <a:endParaRPr lang="en-US" sz="2000" b="1" i="1" dirty="0">
              <a:latin typeface="Aptos SemiBold" panose="020B0004020202020204" pitchFamily="34" charset="0"/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Aptos SemiBold"/>
                <a:cs typeface="Calibri"/>
              </a:rPr>
              <a:t>VCC and </a:t>
            </a:r>
            <a:r>
              <a:rPr lang="en-US" sz="2000" b="1" i="1">
                <a:latin typeface="Aptos SemiBold"/>
                <a:cs typeface="Calibri"/>
              </a:rPr>
              <a:t>Perturbation</a:t>
            </a:r>
            <a:endParaRPr lang="en-US" sz="2000" b="1" i="1" dirty="0">
              <a:latin typeface="Aptos SemiBold" panose="020B0004020202020204" pitchFamily="34" charset="0"/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Aptos SemiBold"/>
                <a:cs typeface="Calibri"/>
              </a:rPr>
              <a:t>Application of </a:t>
            </a:r>
            <a:r>
              <a:rPr lang="en-US" sz="2000" b="1" i="1" dirty="0" err="1">
                <a:latin typeface="Aptos SemiBold"/>
                <a:cs typeface="Calibri"/>
              </a:rPr>
              <a:t>Geneformer's</a:t>
            </a:r>
            <a:r>
              <a:rPr lang="en-US" sz="2000" b="1" i="1" dirty="0">
                <a:latin typeface="Aptos SemiBold"/>
                <a:cs typeface="Calibri"/>
              </a:rPr>
              <a:t> ISP in VCC</a:t>
            </a:r>
            <a:endParaRPr lang="en-US" sz="2000" b="1" i="1" dirty="0">
              <a:latin typeface="Aptos SemiBold" panose="020B0004020202020204" pitchFamily="34" charset="0"/>
              <a:cs typeface="Calibri" panose="020F0502020204030204" pitchFamily="34" charset="0"/>
            </a:endParaRPr>
          </a:p>
          <a:p>
            <a:pPr defTabSz="914400" eaLnBrk="1" hangingPunct="1">
              <a:lnSpc>
                <a:spcPct val="150000"/>
              </a:lnSpc>
              <a:buClr>
                <a:srgbClr val="10AC85"/>
              </a:buClr>
              <a:buFont typeface="Wingdings" panose="05000000000000000000" pitchFamily="2" charset="2"/>
              <a:buChar char="Ø"/>
            </a:pPr>
            <a:r>
              <a:rPr lang="en-US" sz="2000" b="1" i="1">
                <a:latin typeface="Aptos SemiBold"/>
                <a:cs typeface="Calibri"/>
              </a:rPr>
              <a:t>Results</a:t>
            </a:r>
            <a:endParaRPr lang="en-US" sz="2000" b="1" i="1" dirty="0">
              <a:latin typeface="Aptos SemiBold" panose="020B00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528E4AFE-0B7A-F2CC-DD50-5DD2B3B1B7A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766624" y="361638"/>
            <a:ext cx="1883814" cy="45250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0226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EF98-68BB-8E54-3D4C-B6B08B6B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C8089-66E2-D2B1-522F-70A71BB80487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Gene Embeddings 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B7DB68-F054-7C82-52D4-14679052E75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3AB12E-9DEB-F0DC-8F92-D6AB526F3A6A}"/>
              </a:ext>
            </a:extLst>
          </p:cNvPr>
          <p:cNvSpPr txBox="1"/>
          <p:nvPr/>
        </p:nvSpPr>
        <p:spPr>
          <a:xfrm>
            <a:off x="442323" y="989339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Geneformer the foundation model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Rank value encodings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HVGs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What are gene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0F6456-2785-48FF-28ED-6BFE59306444}"/>
              </a:ext>
            </a:extLst>
          </p:cNvPr>
          <p:cNvSpPr/>
          <p:nvPr/>
        </p:nvSpPr>
        <p:spPr>
          <a:xfrm rot="16200000">
            <a:off x="-88190" y="1332195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67DF-9DE9-9D1D-50E8-024560C9F86E}"/>
              </a:ext>
            </a:extLst>
          </p:cNvPr>
          <p:cNvSpPr/>
          <p:nvPr/>
        </p:nvSpPr>
        <p:spPr>
          <a:xfrm>
            <a:off x="193207" y="2515167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Cell X Gene matrix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4FA21-C3D2-BDFB-C6A0-60C5908DC2CC}"/>
              </a:ext>
            </a:extLst>
          </p:cNvPr>
          <p:cNvSpPr txBox="1"/>
          <p:nvPr/>
        </p:nvSpPr>
        <p:spPr>
          <a:xfrm>
            <a:off x="2407782" y="232590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C898D4B-DE02-50F3-EE66-55F1B316036B}"/>
              </a:ext>
            </a:extLst>
          </p:cNvPr>
          <p:cNvSpPr/>
          <p:nvPr/>
        </p:nvSpPr>
        <p:spPr>
          <a:xfrm>
            <a:off x="5697105" y="175823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367129-F0B8-800C-391E-C6156D80A19D}"/>
              </a:ext>
            </a:extLst>
          </p:cNvPr>
          <p:cNvCxnSpPr>
            <a:cxnSpLocks/>
          </p:cNvCxnSpPr>
          <p:nvPr/>
        </p:nvCxnSpPr>
        <p:spPr>
          <a:xfrm flipV="1">
            <a:off x="1930863" y="3480064"/>
            <a:ext cx="476919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2855C5-AE61-EDDC-A741-88C70CD6F7CF}"/>
              </a:ext>
            </a:extLst>
          </p:cNvPr>
          <p:cNvCxnSpPr>
            <a:cxnSpLocks/>
          </p:cNvCxnSpPr>
          <p:nvPr/>
        </p:nvCxnSpPr>
        <p:spPr>
          <a:xfrm>
            <a:off x="3432815" y="3480064"/>
            <a:ext cx="2264290" cy="1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6575DA-7087-409C-D898-9244DB2F46CE}"/>
              </a:ext>
            </a:extLst>
          </p:cNvPr>
          <p:cNvSpPr txBox="1"/>
          <p:nvPr/>
        </p:nvSpPr>
        <p:spPr>
          <a:xfrm>
            <a:off x="8112293" y="2645059"/>
            <a:ext cx="3918477" cy="1709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108847" tIns="54423" rIns="108847" bIns="54423" anchorCtr="0" compatLnSpc="0"/>
          <a:lstStyle/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TP53: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[ 0.12, -0.45,  1.03, ..., -0.18,  0.77 ]   ← 768 dim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EGFR: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 1.02, -0.44 ]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BRCA1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[ 0.88,  0.14, -0.67, ..., -0.09,  0.51 ]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097A06-ED2C-F7C5-C312-FF7D101E4F8B}"/>
              </a:ext>
            </a:extLst>
          </p:cNvPr>
          <p:cNvCxnSpPr>
            <a:cxnSpLocks/>
          </p:cNvCxnSpPr>
          <p:nvPr/>
        </p:nvCxnSpPr>
        <p:spPr>
          <a:xfrm flipV="1">
            <a:off x="7473418" y="3499782"/>
            <a:ext cx="638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AB55D4-2AC8-0D66-8F76-82ADBA2521C9}"/>
              </a:ext>
            </a:extLst>
          </p:cNvPr>
          <p:cNvSpPr txBox="1"/>
          <p:nvPr/>
        </p:nvSpPr>
        <p:spPr>
          <a:xfrm>
            <a:off x="1770647" y="5136132"/>
            <a:ext cx="23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Rank value Encodings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A501C9-CC40-4477-34A6-B12EAEA6BA98}"/>
              </a:ext>
            </a:extLst>
          </p:cNvPr>
          <p:cNvSpPr txBox="1"/>
          <p:nvPr/>
        </p:nvSpPr>
        <p:spPr>
          <a:xfrm>
            <a:off x="8149237" y="5456000"/>
            <a:ext cx="384606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Cell Embedding</a:t>
            </a:r>
          </a:p>
          <a:p>
            <a:pPr hangingPunct="0"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-0.89,  1.14 ]   - 768 dim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62027F-5B3C-6BAC-C9F7-8E4AAD04777A}"/>
              </a:ext>
            </a:extLst>
          </p:cNvPr>
          <p:cNvCxnSpPr>
            <a:cxnSpLocks/>
          </p:cNvCxnSpPr>
          <p:nvPr/>
        </p:nvCxnSpPr>
        <p:spPr>
          <a:xfrm>
            <a:off x="10071532" y="4354506"/>
            <a:ext cx="737" cy="110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89058B8C-E51E-3B77-03AC-D83F0034D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7" y="3176816"/>
            <a:ext cx="1745329" cy="1218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62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F181-2F66-716C-69FB-709613D8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AA4923-BDFA-78BA-863E-6AC0E1A66F16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Insilico Perturbation Using Geneformer</a:t>
            </a:r>
            <a:endParaRPr lang="en-US" sz="2800" b="1" spc="-15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388E57-8533-06E2-2096-07AF5E5454A5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F7EE9ED-7F80-E773-A06E-6ABB71BED0C5}"/>
              </a:ext>
            </a:extLst>
          </p:cNvPr>
          <p:cNvSpPr/>
          <p:nvPr/>
        </p:nvSpPr>
        <p:spPr>
          <a:xfrm rot="16200000">
            <a:off x="-203209" y="1159667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/>
              <a:t>KEYS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2B83A33B-D046-9998-D2DE-F3131D09B574}"/>
              </a:ext>
            </a:extLst>
          </p:cNvPr>
          <p:cNvSpPr txBox="1"/>
          <p:nvPr/>
        </p:nvSpPr>
        <p:spPr>
          <a:xfrm>
            <a:off x="312927" y="816811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Geneformer the foundation model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Rank value encodings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HVGs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What are gene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pic>
        <p:nvPicPr>
          <p:cNvPr id="8" name="Picture 7" descr="A blue circle with a dot&#10;&#10;AI-generated content may be incorrect.">
            <a:extLst>
              <a:ext uri="{FF2B5EF4-FFF2-40B4-BE49-F238E27FC236}">
                <a16:creationId xmlns:a16="http://schemas.microsoft.com/office/drawing/2014/main" id="{7E67A4B8-956F-C1AD-66E0-B83436779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08" y="1689218"/>
            <a:ext cx="717280" cy="7457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8882EDA-7EC5-8FF8-FC96-307539847DAE}"/>
              </a:ext>
            </a:extLst>
          </p:cNvPr>
          <p:cNvSpPr/>
          <p:nvPr/>
        </p:nvSpPr>
        <p:spPr>
          <a:xfrm>
            <a:off x="207584" y="2543922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Cell X Gene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5CB88-B26A-0B99-3F87-1B152024D52E}"/>
              </a:ext>
            </a:extLst>
          </p:cNvPr>
          <p:cNvSpPr txBox="1"/>
          <p:nvPr/>
        </p:nvSpPr>
        <p:spPr>
          <a:xfrm>
            <a:off x="2422159" y="235465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highlight>
                  <a:srgbClr val="FF0000"/>
                </a:highlight>
                <a:latin typeface="Liberation Sans" pitchFamily="18"/>
                <a:ea typeface="Microsoft YaHei" pitchFamily="2"/>
                <a:cs typeface="Arial" pitchFamily="2"/>
              </a:rPr>
              <a:t>KRAS</a:t>
            </a: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B64070-92B6-0F64-7DCE-36C5DE2AAC0D}"/>
              </a:ext>
            </a:extLst>
          </p:cNvPr>
          <p:cNvSpPr/>
          <p:nvPr/>
        </p:nvSpPr>
        <p:spPr>
          <a:xfrm>
            <a:off x="5711482" y="1786992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88F38B-707C-7C23-2F3D-E2555B3C6CC2}"/>
              </a:ext>
            </a:extLst>
          </p:cNvPr>
          <p:cNvCxnSpPr>
            <a:cxnSpLocks/>
          </p:cNvCxnSpPr>
          <p:nvPr/>
        </p:nvCxnSpPr>
        <p:spPr>
          <a:xfrm flipV="1">
            <a:off x="1945240" y="3508819"/>
            <a:ext cx="476919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350A2C-8031-C367-F6D8-FC1E12B67312}"/>
              </a:ext>
            </a:extLst>
          </p:cNvPr>
          <p:cNvCxnSpPr>
            <a:cxnSpLocks/>
          </p:cNvCxnSpPr>
          <p:nvPr/>
        </p:nvCxnSpPr>
        <p:spPr>
          <a:xfrm>
            <a:off x="3447192" y="3508819"/>
            <a:ext cx="2264290" cy="1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46539E-FD2E-BF46-6EA6-75E8C75567B7}"/>
              </a:ext>
            </a:extLst>
          </p:cNvPr>
          <p:cNvSpPr txBox="1"/>
          <p:nvPr/>
        </p:nvSpPr>
        <p:spPr>
          <a:xfrm>
            <a:off x="8126670" y="2673814"/>
            <a:ext cx="3918477" cy="1709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108847" tIns="54423" rIns="108847" bIns="54423" anchorCtr="0" compatLnSpc="0"/>
          <a:lstStyle/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TP53: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[ 0.12, -0.45,  1.03, ..., -0.18,  0.77 ]   ← 768 dim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EGFR: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 1.02, -0.44 ]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BRCA1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[ 0.88,  0.14, -0.67, ..., -0.09,  0.51 ]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CD44B0-F04D-1A2F-C4E7-2D7C9B77DAB7}"/>
              </a:ext>
            </a:extLst>
          </p:cNvPr>
          <p:cNvCxnSpPr>
            <a:cxnSpLocks/>
          </p:cNvCxnSpPr>
          <p:nvPr/>
        </p:nvCxnSpPr>
        <p:spPr>
          <a:xfrm flipV="1">
            <a:off x="7487795" y="3528537"/>
            <a:ext cx="638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02F3A07-B1EA-AC42-5542-BFAAF3CA5059}"/>
              </a:ext>
            </a:extLst>
          </p:cNvPr>
          <p:cNvSpPr txBox="1"/>
          <p:nvPr/>
        </p:nvSpPr>
        <p:spPr>
          <a:xfrm>
            <a:off x="1785024" y="5164887"/>
            <a:ext cx="23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Rank value Encodings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49B492-BB87-E477-74B6-EA27814053F8}"/>
              </a:ext>
            </a:extLst>
          </p:cNvPr>
          <p:cNvSpPr txBox="1"/>
          <p:nvPr/>
        </p:nvSpPr>
        <p:spPr>
          <a:xfrm>
            <a:off x="8163614" y="5484754"/>
            <a:ext cx="384606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Cell Embedding</a:t>
            </a:r>
          </a:p>
          <a:p>
            <a:pPr hangingPunct="0"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-0.89,  1.14 ]   - 768 dim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C3885F-C757-17D1-3A4B-50014AC58156}"/>
              </a:ext>
            </a:extLst>
          </p:cNvPr>
          <p:cNvCxnSpPr>
            <a:cxnSpLocks/>
          </p:cNvCxnSpPr>
          <p:nvPr/>
        </p:nvCxnSpPr>
        <p:spPr>
          <a:xfrm>
            <a:off x="10085909" y="4383260"/>
            <a:ext cx="737" cy="110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F0BDCE4-6DB2-168C-0D2D-F3FFA6334C8A}"/>
              </a:ext>
            </a:extLst>
          </p:cNvPr>
          <p:cNvSpPr txBox="1"/>
          <p:nvPr/>
        </p:nvSpPr>
        <p:spPr>
          <a:xfrm>
            <a:off x="3995240" y="2495102"/>
            <a:ext cx="1025033" cy="2092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pic>
        <p:nvPicPr>
          <p:cNvPr id="44" name="Picture 43" descr="A cartoon of a egg&#10;&#10;AI-generated content may be incorrect.">
            <a:extLst>
              <a:ext uri="{FF2B5EF4-FFF2-40B4-BE49-F238E27FC236}">
                <a16:creationId xmlns:a16="http://schemas.microsoft.com/office/drawing/2014/main" id="{924E8650-2DA1-C553-3733-99685A0A7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154" y="409518"/>
            <a:ext cx="945508" cy="112030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CEB235E-79D9-8E59-C0A5-1425EB1EAF7E}"/>
              </a:ext>
            </a:extLst>
          </p:cNvPr>
          <p:cNvSpPr txBox="1"/>
          <p:nvPr/>
        </p:nvSpPr>
        <p:spPr>
          <a:xfrm>
            <a:off x="9211791" y="1563830"/>
            <a:ext cx="236450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KRAS perturbed cell’s embedding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17D5D5-4C73-8AC9-6532-10AB185DD153}"/>
              </a:ext>
            </a:extLst>
          </p:cNvPr>
          <p:cNvSpPr txBox="1"/>
          <p:nvPr/>
        </p:nvSpPr>
        <p:spPr>
          <a:xfrm>
            <a:off x="312928" y="831188"/>
            <a:ext cx="2374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pic>
        <p:nvPicPr>
          <p:cNvPr id="50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A39BD982-408F-4150-0352-3E2FB459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11" y="2903646"/>
            <a:ext cx="1745329" cy="1218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98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4BD2-82DD-3AE9-E4CE-44DC2A44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9CB344-0A10-FADA-393A-AD70BC3322C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In</a:t>
            </a:r>
            <a:endParaRPr lang="en-US" sz="2800" b="1" spc="-15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940B71-9F30-D0B5-BE98-760E67F43B07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B37549E8-D2C5-B2EF-43C8-927BAB6E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664" y="1311753"/>
            <a:ext cx="5069276" cy="3558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380460B-14E5-DE5C-E487-1E9EA49D9475}"/>
              </a:ext>
            </a:extLst>
          </p:cNvPr>
          <p:cNvSpPr/>
          <p:nvPr/>
        </p:nvSpPr>
        <p:spPr>
          <a:xfrm>
            <a:off x="3252954" y="1384426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14" name="Picture 13" descr="A blue circle with a dot&#10;&#10;AI-generated content may be incorrect.">
            <a:extLst>
              <a:ext uri="{FF2B5EF4-FFF2-40B4-BE49-F238E27FC236}">
                <a16:creationId xmlns:a16="http://schemas.microsoft.com/office/drawing/2014/main" id="{5C1C5E6D-3522-6B01-6637-24ADF153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99" y="1717972"/>
            <a:ext cx="717280" cy="745743"/>
          </a:xfrm>
          <a:prstGeom prst="rect">
            <a:avLst/>
          </a:prstGeom>
        </p:spPr>
      </p:pic>
      <p:pic>
        <p:nvPicPr>
          <p:cNvPr id="17" name="Picture 16" descr="A cartoon of a egg&#10;&#10;AI-generated content may be incorrect.">
            <a:extLst>
              <a:ext uri="{FF2B5EF4-FFF2-40B4-BE49-F238E27FC236}">
                <a16:creationId xmlns:a16="http://schemas.microsoft.com/office/drawing/2014/main" id="{C8A3387F-134A-25BE-9A97-179F2A030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99" y="4392047"/>
            <a:ext cx="744225" cy="7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0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B643-3D5A-1DA5-BBF0-AFB7C129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AE8199-EBC5-B7E9-6749-1DCFAD060017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VCC and Perturbation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12DBEC-93D6-C9FF-F7F8-5901E0714736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68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7B0B-B33F-7899-E9E6-EDA19C60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03BF6C-CAD7-E12D-2E37-CEF8DBF7855B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Limitat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ions of using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Genformer</a:t>
            </a:r>
            <a:endParaRPr lang="en-US" sz="2800" b="1" spc="-150" dirty="0" err="1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CF3C7A-A382-8229-8072-F87013F3174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5B66416-CD8F-D9C2-3C31-85A2D9FF78C7}"/>
              </a:ext>
            </a:extLst>
          </p:cNvPr>
          <p:cNvSpPr/>
          <p:nvPr/>
        </p:nvSpPr>
        <p:spPr>
          <a:xfrm>
            <a:off x="4136112" y="1385523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7" name="Picture 6" descr="A blue circle with a dot&#10;&#10;AI-generated content may be incorrect.">
            <a:extLst>
              <a:ext uri="{FF2B5EF4-FFF2-40B4-BE49-F238E27FC236}">
                <a16:creationId xmlns:a16="http://schemas.microsoft.com/office/drawing/2014/main" id="{42819DAC-4F68-3B19-22FA-57D1CDF4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11" y="1798274"/>
            <a:ext cx="717280" cy="745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748BAF-B57D-2C56-C8EB-5CDF8565A194}"/>
              </a:ext>
            </a:extLst>
          </p:cNvPr>
          <p:cNvSpPr txBox="1"/>
          <p:nvPr/>
        </p:nvSpPr>
        <p:spPr>
          <a:xfrm>
            <a:off x="2060935" y="197290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0F79A-6784-73E1-DDE1-16C1A878C797}"/>
              </a:ext>
            </a:extLst>
          </p:cNvPr>
          <p:cNvSpPr txBox="1"/>
          <p:nvPr/>
        </p:nvSpPr>
        <p:spPr>
          <a:xfrm>
            <a:off x="135697" y="5232311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3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84568F9B-0938-A6B0-C454-E57B16970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7" y="2642911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E1439B-D388-4BCC-FB54-EBD1B1AE9707}"/>
              </a:ext>
            </a:extLst>
          </p:cNvPr>
          <p:cNvCxnSpPr/>
          <p:nvPr/>
        </p:nvCxnSpPr>
        <p:spPr>
          <a:xfrm>
            <a:off x="1522743" y="3127069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ED6CE3-63CF-69FA-55B8-DB743D1052A3}"/>
              </a:ext>
            </a:extLst>
          </p:cNvPr>
          <p:cNvCxnSpPr/>
          <p:nvPr/>
        </p:nvCxnSpPr>
        <p:spPr>
          <a:xfrm>
            <a:off x="3085968" y="3127069"/>
            <a:ext cx="105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F5A406-85EF-C7C1-1FE0-9B7FD6405421}"/>
              </a:ext>
            </a:extLst>
          </p:cNvPr>
          <p:cNvSpPr txBox="1"/>
          <p:nvPr/>
        </p:nvSpPr>
        <p:spPr>
          <a:xfrm>
            <a:off x="2060935" y="5232311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C1B52-5087-E7DE-0EC0-954DBB608BF4}"/>
              </a:ext>
            </a:extLst>
          </p:cNvPr>
          <p:cNvSpPr txBox="1"/>
          <p:nvPr/>
        </p:nvSpPr>
        <p:spPr>
          <a:xfrm>
            <a:off x="219534" y="954736"/>
            <a:ext cx="121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Cell x gene         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0B013-A821-C4DD-94C6-530C09860273}"/>
              </a:ext>
            </a:extLst>
          </p:cNvPr>
          <p:cNvSpPr txBox="1"/>
          <p:nvPr/>
        </p:nvSpPr>
        <p:spPr>
          <a:xfrm>
            <a:off x="2060934" y="5693975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5A0E6A5-B5FF-E695-5E9B-19A1CF28AF40}"/>
              </a:ext>
            </a:extLst>
          </p:cNvPr>
          <p:cNvSpPr/>
          <p:nvPr/>
        </p:nvSpPr>
        <p:spPr>
          <a:xfrm>
            <a:off x="7077893" y="1385523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</a:t>
            </a:r>
          </a:p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Decoder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B6CBD-009D-D1BB-CBBC-DB2360187D58}"/>
              </a:ext>
            </a:extLst>
          </p:cNvPr>
          <p:cNvSpPr txBox="1"/>
          <p:nvPr/>
        </p:nvSpPr>
        <p:spPr>
          <a:xfrm>
            <a:off x="9925698" y="197290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A254A8-70E2-05B4-BFDF-7929A67AFF05}"/>
              </a:ext>
            </a:extLst>
          </p:cNvPr>
          <p:cNvSpPr txBox="1"/>
          <p:nvPr/>
        </p:nvSpPr>
        <p:spPr>
          <a:xfrm>
            <a:off x="9947295" y="532005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FC4C3DD-61B0-9B9C-7CCE-B6E90D9BEFEF}"/>
              </a:ext>
            </a:extLst>
          </p:cNvPr>
          <p:cNvCxnSpPr/>
          <p:nvPr/>
        </p:nvCxnSpPr>
        <p:spPr>
          <a:xfrm rot="16200000" flipH="1">
            <a:off x="4753613" y="1656179"/>
            <a:ext cx="3483091" cy="2941781"/>
          </a:xfrm>
          <a:prstGeom prst="bentConnector5">
            <a:avLst>
              <a:gd name="adj1" fmla="val -6563"/>
              <a:gd name="adj2" fmla="val 50000"/>
              <a:gd name="adj3" fmla="val 106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06E1C0E-6511-1228-FF31-4D2F3A7F57AD}"/>
              </a:ext>
            </a:extLst>
          </p:cNvPr>
          <p:cNvCxnSpPr/>
          <p:nvPr/>
        </p:nvCxnSpPr>
        <p:spPr>
          <a:xfrm rot="16200000" flipH="1">
            <a:off x="8075101" y="1276472"/>
            <a:ext cx="1741546" cy="1959648"/>
          </a:xfrm>
          <a:prstGeom prst="bentConnector4">
            <a:avLst>
              <a:gd name="adj1" fmla="val -13126"/>
              <a:gd name="adj2" fmla="val 72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AAEA13-D05E-D8DB-9ADA-E9BC429307AB}"/>
              </a:ext>
            </a:extLst>
          </p:cNvPr>
          <p:cNvSpPr txBox="1"/>
          <p:nvPr/>
        </p:nvSpPr>
        <p:spPr>
          <a:xfrm>
            <a:off x="144933" y="5693975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0F1431-CF43-5C12-8D9B-26DF5213DC2C}"/>
              </a:ext>
            </a:extLst>
          </p:cNvPr>
          <p:cNvSpPr txBox="1"/>
          <p:nvPr/>
        </p:nvSpPr>
        <p:spPr>
          <a:xfrm>
            <a:off x="9947295" y="578172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87944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A8F8-0397-A5F0-C7C2-CFBFC5F0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DC273F-1E92-BFAE-DF95-E61656C89578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Design of the used model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A12CAC-4886-4224-7B72-03C7DF6740FD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67CD1B7-5E84-3A85-26B1-4ADEC05C1BBF}"/>
              </a:ext>
            </a:extLst>
          </p:cNvPr>
          <p:cNvSpPr txBox="1"/>
          <p:nvPr/>
        </p:nvSpPr>
        <p:spPr>
          <a:xfrm>
            <a:off x="452582" y="108625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Cell input vector (4096)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1024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2048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4096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8192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Output Layer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18,080 gene expression values</a:t>
            </a:r>
          </a:p>
        </p:txBody>
      </p:sp>
    </p:spTree>
    <p:extLst>
      <p:ext uri="{BB962C8B-B14F-4D97-AF65-F5344CB8AC3E}">
        <p14:creationId xmlns:p14="http://schemas.microsoft.com/office/powerpoint/2010/main" val="45399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371F-D6D1-889C-2F34-E4301D94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F337F4-EAFB-FA7D-255B-8501B7306F8E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In</a:t>
            </a:r>
            <a:endParaRPr lang="en-US" sz="2800" b="1" spc="-15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F72381-3C05-98FE-D113-2B35CE0EDDD4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46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39B0-22B3-9F21-6B46-208A76BA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132915-CBB4-F2FA-C98F-CC4C1FDE8A20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In</a:t>
            </a:r>
            <a:endParaRPr lang="en-US" sz="2800" b="1" spc="-15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F05CD1-DB5B-7048-5069-16FAFAD2C3B3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13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60F7-AFA8-C8E4-DB35-8B76F550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0FBB75-CF18-B13C-B629-C05672F20993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>
                <a:solidFill>
                  <a:srgbClr val="033E39"/>
                </a:solidFill>
                <a:latin typeface="Aptos"/>
              </a:rPr>
              <a:t>In</a:t>
            </a:r>
            <a:endParaRPr lang="en-US" sz="2800" b="1" spc="-15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467C30-B3F0-1AFE-2BA0-A4BB7EEC7BD1}"/>
              </a:ext>
            </a:extLst>
          </p:cNvPr>
          <p:cNvCxnSpPr>
            <a:cxnSpLocks/>
          </p:cNvCxnSpPr>
          <p:nvPr/>
        </p:nvCxnSpPr>
        <p:spPr>
          <a:xfrm>
            <a:off x="444374" y="697974"/>
            <a:ext cx="524410" cy="0"/>
          </a:xfrm>
          <a:prstGeom prst="line">
            <a:avLst/>
          </a:prstGeom>
          <a:ln w="38100">
            <a:solidFill>
              <a:srgbClr val="0CA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3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A08073-A209-57FD-AF1B-59CC1632E7E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2386" y="2064240"/>
            <a:ext cx="4523977" cy="2724988"/>
          </a:xfrm>
          <a:prstGeom prst="rect">
            <a:avLst/>
          </a:prstGeom>
          <a:ln w="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6DA66C-1A0F-152C-31F3-72236FF6B495}"/>
              </a:ext>
            </a:extLst>
          </p:cNvPr>
          <p:cNvSpPr/>
          <p:nvPr/>
        </p:nvSpPr>
        <p:spPr>
          <a:xfrm rot="16200000">
            <a:off x="-203209" y="1159667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3A28C39-860E-BC40-92C4-23B4CA6DFCFE}"/>
              </a:ext>
            </a:extLst>
          </p:cNvPr>
          <p:cNvSpPr/>
          <p:nvPr/>
        </p:nvSpPr>
        <p:spPr>
          <a:xfrm>
            <a:off x="175319" y="64800"/>
            <a:ext cx="614235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1600" b="1" spc="-1" dirty="0">
                <a:solidFill>
                  <a:srgbClr val="000000"/>
                </a:solidFill>
              </a:rPr>
              <a:t>INSILICO PERTURBATION AT CELL EMBEDDING – REPRESENTATION 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strike="noStrike" spc="-1" dirty="0">
              <a:latin typeface="Arial"/>
            </a:endParaRPr>
          </a:p>
        </p:txBody>
      </p:sp>
      <p:sp>
        <p:nvSpPr>
          <p:cNvPr id="13" name="Straight Connector 13">
            <a:extLst>
              <a:ext uri="{FF2B5EF4-FFF2-40B4-BE49-F238E27FC236}">
                <a16:creationId xmlns:a16="http://schemas.microsoft.com/office/drawing/2014/main" id="{E93469DF-B2B5-A638-C50B-9A5B616CCDEF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172BB-DF66-7F0F-39FC-6146EE94C24C}"/>
              </a:ext>
            </a:extLst>
          </p:cNvPr>
          <p:cNvSpPr txBox="1"/>
          <p:nvPr/>
        </p:nvSpPr>
        <p:spPr>
          <a:xfrm>
            <a:off x="312927" y="831188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Clustering nature of cell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knock out not only a single gene but also multiple genes at a time.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Cosine Shift concept  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IN" sz="1000" spc="-1" dirty="0"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pic>
        <p:nvPicPr>
          <p:cNvPr id="2" name="Picture 1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135ECCE0-C9A8-D04B-641D-7F4A9177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022" y="1771829"/>
            <a:ext cx="6147579" cy="43063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060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1052D2-C51B-EA28-D142-6A3A1E9B61ED}"/>
              </a:ext>
            </a:extLst>
          </p:cNvPr>
          <p:cNvSpPr/>
          <p:nvPr/>
        </p:nvSpPr>
        <p:spPr>
          <a:xfrm>
            <a:off x="175319" y="64800"/>
            <a:ext cx="614235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1600" b="1" spc="-1" dirty="0">
                <a:solidFill>
                  <a:srgbClr val="000000"/>
                </a:solidFill>
              </a:rPr>
              <a:t>VCC AND PERTURBATION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strike="noStrike" spc="-1" dirty="0">
              <a:latin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1A15D5-605E-4125-E12C-1150A5B4382B}"/>
              </a:ext>
            </a:extLst>
          </p:cNvPr>
          <p:cNvSpPr/>
          <p:nvPr/>
        </p:nvSpPr>
        <p:spPr>
          <a:xfrm>
            <a:off x="175319" y="419572"/>
            <a:ext cx="11701222" cy="28508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8D839B-9BA2-88CD-2F3F-2D5F0DFE95CC}"/>
              </a:ext>
            </a:extLst>
          </p:cNvPr>
          <p:cNvSpPr txBox="1"/>
          <p:nvPr/>
        </p:nvSpPr>
        <p:spPr>
          <a:xfrm>
            <a:off x="251511" y="448910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TRAINING </a:t>
            </a:r>
          </a:p>
        </p:txBody>
      </p:sp>
      <p:pic>
        <p:nvPicPr>
          <p:cNvPr id="31" name="Picture 30" descr="A blue circle with a dot&#10;&#10;AI-generated content may be incorrect.">
            <a:extLst>
              <a:ext uri="{FF2B5EF4-FFF2-40B4-BE49-F238E27FC236}">
                <a16:creationId xmlns:a16="http://schemas.microsoft.com/office/drawing/2014/main" id="{9A2E7ED0-059D-DFD6-3F63-08A502AA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7" y="801238"/>
            <a:ext cx="717280" cy="745743"/>
          </a:xfrm>
          <a:prstGeom prst="rect">
            <a:avLst/>
          </a:prstGeom>
        </p:spPr>
      </p:pic>
      <p:pic>
        <p:nvPicPr>
          <p:cNvPr id="3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DD27485F-B175-DFA7-1A75-4F243E5A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88" y="1753044"/>
            <a:ext cx="1413582" cy="9868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038110A-EBE1-F124-7A98-6933B2D98074}"/>
              </a:ext>
            </a:extLst>
          </p:cNvPr>
          <p:cNvSpPr/>
          <p:nvPr/>
        </p:nvSpPr>
        <p:spPr>
          <a:xfrm>
            <a:off x="221498" y="1498538"/>
            <a:ext cx="1422572" cy="2362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Unperturbed cells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9AFC6D-58D5-529F-2458-091B89C1EAB0}"/>
              </a:ext>
            </a:extLst>
          </p:cNvPr>
          <p:cNvSpPr/>
          <p:nvPr/>
        </p:nvSpPr>
        <p:spPr>
          <a:xfrm>
            <a:off x="2316653" y="1074019"/>
            <a:ext cx="554185" cy="2125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g150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2FE296-5C53-065F-3486-C9A30347B692}"/>
              </a:ext>
            </a:extLst>
          </p:cNvPr>
          <p:cNvSpPr txBox="1"/>
          <p:nvPr/>
        </p:nvSpPr>
        <p:spPr>
          <a:xfrm>
            <a:off x="393266" y="2700957"/>
            <a:ext cx="1422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38 k cells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21D21-B4FC-7F88-70A5-C016B602418B}"/>
              </a:ext>
            </a:extLst>
          </p:cNvPr>
          <p:cNvSpPr txBox="1"/>
          <p:nvPr/>
        </p:nvSpPr>
        <p:spPr>
          <a:xfrm>
            <a:off x="2007230" y="574954"/>
            <a:ext cx="142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List of genes to be perturbed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1F9A9C-EE60-0514-35CC-9E6C0B1590E4}"/>
              </a:ext>
            </a:extLst>
          </p:cNvPr>
          <p:cNvCxnSpPr>
            <a:cxnSpLocks/>
            <a:stCxn id="34" idx="3"/>
            <a:endCxn id="2100" idx="1"/>
          </p:cNvCxnSpPr>
          <p:nvPr/>
        </p:nvCxnSpPr>
        <p:spPr>
          <a:xfrm flipV="1">
            <a:off x="2870838" y="2136266"/>
            <a:ext cx="1903075" cy="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A cartoon of a egg&#10;&#10;AI-generated content may be incorrect.">
            <a:extLst>
              <a:ext uri="{FF2B5EF4-FFF2-40B4-BE49-F238E27FC236}">
                <a16:creationId xmlns:a16="http://schemas.microsoft.com/office/drawing/2014/main" id="{FBF5B07F-2E91-B3D8-C611-C06BACE74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804" y="1392567"/>
            <a:ext cx="577588" cy="68436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EE58AD6-449E-602F-2049-400022ED14DA}"/>
              </a:ext>
            </a:extLst>
          </p:cNvPr>
          <p:cNvSpPr txBox="1"/>
          <p:nvPr/>
        </p:nvSpPr>
        <p:spPr>
          <a:xfrm>
            <a:off x="10033502" y="937189"/>
            <a:ext cx="1422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Ground truth provided by VCC</a:t>
            </a:r>
            <a:endParaRPr lang="en-IN" sz="18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819D91-D1E4-3555-916E-C9449D2F154E}"/>
              </a:ext>
            </a:extLst>
          </p:cNvPr>
          <p:cNvCxnSpPr>
            <a:cxnSpLocks/>
            <a:stCxn id="2093" idx="1"/>
          </p:cNvCxnSpPr>
          <p:nvPr/>
        </p:nvCxnSpPr>
        <p:spPr>
          <a:xfrm flipH="1">
            <a:off x="6096000" y="2132700"/>
            <a:ext cx="887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B4FF894-227E-186C-6EDE-81876808004F}"/>
              </a:ext>
            </a:extLst>
          </p:cNvPr>
          <p:cNvSpPr/>
          <p:nvPr/>
        </p:nvSpPr>
        <p:spPr>
          <a:xfrm>
            <a:off x="175316" y="3320292"/>
            <a:ext cx="11701225" cy="14960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5" name="Picture 44" descr="A blue circle with a dot&#10;&#10;AI-generated content may be incorrect.">
            <a:extLst>
              <a:ext uri="{FF2B5EF4-FFF2-40B4-BE49-F238E27FC236}">
                <a16:creationId xmlns:a16="http://schemas.microsoft.com/office/drawing/2014/main" id="{26D1047A-2899-205E-E74E-7D2DD0C8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5" y="3759552"/>
            <a:ext cx="717280" cy="74574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128025C-0FC5-9D42-C8E6-0D5E95FC2D33}"/>
              </a:ext>
            </a:extLst>
          </p:cNvPr>
          <p:cNvSpPr txBox="1"/>
          <p:nvPr/>
        </p:nvSpPr>
        <p:spPr>
          <a:xfrm>
            <a:off x="247207" y="3347954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VALIDATION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14BD2B-07A3-7A1B-9BA3-F1EE53AF90B7}"/>
              </a:ext>
            </a:extLst>
          </p:cNvPr>
          <p:cNvSpPr/>
          <p:nvPr/>
        </p:nvSpPr>
        <p:spPr>
          <a:xfrm>
            <a:off x="2334876" y="3428207"/>
            <a:ext cx="554185" cy="1347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g50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12DF6B-0910-C836-B1ED-3E59E12B3D6F}"/>
              </a:ext>
            </a:extLst>
          </p:cNvPr>
          <p:cNvCxnSpPr>
            <a:cxnSpLocks/>
            <a:stCxn id="47" idx="3"/>
            <a:endCxn id="2098" idx="1"/>
          </p:cNvCxnSpPr>
          <p:nvPr/>
        </p:nvCxnSpPr>
        <p:spPr>
          <a:xfrm flipV="1">
            <a:off x="2889061" y="4074266"/>
            <a:ext cx="1915647" cy="27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031368C-9D9C-175B-2848-D774CA1EF583}"/>
              </a:ext>
            </a:extLst>
          </p:cNvPr>
          <p:cNvSpPr txBox="1"/>
          <p:nvPr/>
        </p:nvSpPr>
        <p:spPr>
          <a:xfrm>
            <a:off x="1781196" y="1958285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194066-95A4-D133-DA9B-0DEDD1C3FD9D}"/>
              </a:ext>
            </a:extLst>
          </p:cNvPr>
          <p:cNvSpPr txBox="1"/>
          <p:nvPr/>
        </p:nvSpPr>
        <p:spPr>
          <a:xfrm>
            <a:off x="1708479" y="3947758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0E75C2D-EC87-46AA-AA55-A88B2742196D}"/>
              </a:ext>
            </a:extLst>
          </p:cNvPr>
          <p:cNvCxnSpPr>
            <a:cxnSpLocks/>
            <a:stCxn id="2098" idx="3"/>
            <a:endCxn id="57" idx="1"/>
          </p:cNvCxnSpPr>
          <p:nvPr/>
        </p:nvCxnSpPr>
        <p:spPr>
          <a:xfrm flipV="1">
            <a:off x="6152241" y="4068305"/>
            <a:ext cx="1059985" cy="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F928B7D-0A4F-4844-D7F8-AC6FBB5F4029}"/>
              </a:ext>
            </a:extLst>
          </p:cNvPr>
          <p:cNvSpPr txBox="1"/>
          <p:nvPr/>
        </p:nvSpPr>
        <p:spPr>
          <a:xfrm>
            <a:off x="7212226" y="3837472"/>
            <a:ext cx="12014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Predict expression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C607C-4752-BE76-06DF-8A938567E3B1}"/>
              </a:ext>
            </a:extLst>
          </p:cNvPr>
          <p:cNvSpPr/>
          <p:nvPr/>
        </p:nvSpPr>
        <p:spPr>
          <a:xfrm>
            <a:off x="175316" y="4896145"/>
            <a:ext cx="11701225" cy="17390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E2EBE7-28C4-5191-9276-B832AD4046A3}"/>
              </a:ext>
            </a:extLst>
          </p:cNvPr>
          <p:cNvSpPr txBox="1"/>
          <p:nvPr/>
        </p:nvSpPr>
        <p:spPr>
          <a:xfrm>
            <a:off x="243651" y="4992347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TEST </a:t>
            </a:r>
          </a:p>
        </p:txBody>
      </p:sp>
      <p:pic>
        <p:nvPicPr>
          <p:cNvPr id="60" name="Picture 59" descr="A blue circle with a dot&#10;&#10;AI-generated content may be incorrect.">
            <a:extLst>
              <a:ext uri="{FF2B5EF4-FFF2-40B4-BE49-F238E27FC236}">
                <a16:creationId xmlns:a16="http://schemas.microsoft.com/office/drawing/2014/main" id="{E1E63395-2BC1-0FC3-7BF3-8A13A2DD6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7" y="5553340"/>
            <a:ext cx="717280" cy="745743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B1E47268-EF45-F18A-38FA-D689CE498F65}"/>
              </a:ext>
            </a:extLst>
          </p:cNvPr>
          <p:cNvSpPr/>
          <p:nvPr/>
        </p:nvSpPr>
        <p:spPr>
          <a:xfrm>
            <a:off x="2334877" y="5156945"/>
            <a:ext cx="554185" cy="1347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g100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BD3CAA-46F7-4C60-8809-EDDCFF9CED90}"/>
              </a:ext>
            </a:extLst>
          </p:cNvPr>
          <p:cNvSpPr txBox="1"/>
          <p:nvPr/>
        </p:nvSpPr>
        <p:spPr>
          <a:xfrm>
            <a:off x="1708480" y="5730027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C19AD956-6CCF-19B4-FA49-7CDE8215791E}"/>
              </a:ext>
            </a:extLst>
          </p:cNvPr>
          <p:cNvSpPr txBox="1"/>
          <p:nvPr/>
        </p:nvSpPr>
        <p:spPr>
          <a:xfrm>
            <a:off x="7212225" y="5617731"/>
            <a:ext cx="12014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Predict expression</a:t>
            </a:r>
          </a:p>
        </p:txBody>
      </p:sp>
      <p:cxnSp>
        <p:nvCxnSpPr>
          <p:cNvPr id="2052" name="Straight Arrow Connector 2051">
            <a:extLst>
              <a:ext uri="{FF2B5EF4-FFF2-40B4-BE49-F238E27FC236}">
                <a16:creationId xmlns:a16="http://schemas.microsoft.com/office/drawing/2014/main" id="{ADAB93D4-13BD-39FA-B5F6-6A163C8B6000}"/>
              </a:ext>
            </a:extLst>
          </p:cNvPr>
          <p:cNvCxnSpPr>
            <a:cxnSpLocks/>
          </p:cNvCxnSpPr>
          <p:nvPr/>
        </p:nvCxnSpPr>
        <p:spPr>
          <a:xfrm flipV="1">
            <a:off x="6159971" y="5817663"/>
            <a:ext cx="1052255" cy="13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93" name="Table 2092">
            <a:extLst>
              <a:ext uri="{FF2B5EF4-FFF2-40B4-BE49-F238E27FC236}">
                <a16:creationId xmlns:a16="http://schemas.microsoft.com/office/drawing/2014/main" id="{365D7420-4378-E94B-5896-3510E2E3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697696"/>
              </p:ext>
            </p:extLst>
          </p:nvPr>
        </p:nvGraphicFramePr>
        <p:xfrm>
          <a:off x="6983863" y="1319840"/>
          <a:ext cx="2463906" cy="162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953">
                  <a:extLst>
                    <a:ext uri="{9D8B030D-6E8A-4147-A177-3AD203B41FA5}">
                      <a16:colId xmlns:a16="http://schemas.microsoft.com/office/drawing/2014/main" val="1571873313"/>
                    </a:ext>
                  </a:extLst>
                </a:gridCol>
                <a:gridCol w="1231953">
                  <a:extLst>
                    <a:ext uri="{9D8B030D-6E8A-4147-A177-3AD203B41FA5}">
                      <a16:colId xmlns:a16="http://schemas.microsoft.com/office/drawing/2014/main" val="258643521"/>
                    </a:ext>
                  </a:extLst>
                </a:gridCol>
              </a:tblGrid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Perturbed 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90879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4134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7541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54709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02067"/>
                  </a:ext>
                </a:extLst>
              </a:tr>
            </a:tbl>
          </a:graphicData>
        </a:graphic>
      </p:graphicFrame>
      <p:pic>
        <p:nvPicPr>
          <p:cNvPr id="2098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37725D1E-1F71-8180-829E-CAABA1AE0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708" y="3400499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0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83348AB4-906D-3739-B6DB-52BC53F6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913" y="1462499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2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307E580A-FF68-4890-F28D-DE04FCA5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438" y="5130847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03" name="Straight Arrow Connector 2102">
            <a:extLst>
              <a:ext uri="{FF2B5EF4-FFF2-40B4-BE49-F238E27FC236}">
                <a16:creationId xmlns:a16="http://schemas.microsoft.com/office/drawing/2014/main" id="{F3898DC4-9308-B2B0-9B04-553D5AE6760A}"/>
              </a:ext>
            </a:extLst>
          </p:cNvPr>
          <p:cNvCxnSpPr>
            <a:cxnSpLocks/>
            <a:stCxn id="61" idx="3"/>
            <a:endCxn id="2102" idx="1"/>
          </p:cNvCxnSpPr>
          <p:nvPr/>
        </p:nvCxnSpPr>
        <p:spPr>
          <a:xfrm flipV="1">
            <a:off x="2889062" y="5804614"/>
            <a:ext cx="1923376" cy="2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58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7CEBEE-1F64-6DDD-FD05-75DE005EEA3D}"/>
              </a:ext>
            </a:extLst>
          </p:cNvPr>
          <p:cNvSpPr/>
          <p:nvPr/>
        </p:nvSpPr>
        <p:spPr>
          <a:xfrm>
            <a:off x="175319" y="64800"/>
            <a:ext cx="3925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pc="-1" dirty="0">
                <a:solidFill>
                  <a:srgbClr val="000000"/>
                </a:solidFill>
                <a:latin typeface="Calibri"/>
              </a:rPr>
              <a:t>3. GENEFORMER FOR VCC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05C9F102-8F19-7171-A545-857C60D68492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21626E4-ADDF-418F-2061-2148D17F548E}"/>
              </a:ext>
            </a:extLst>
          </p:cNvPr>
          <p:cNvSpPr/>
          <p:nvPr/>
        </p:nvSpPr>
        <p:spPr>
          <a:xfrm>
            <a:off x="4121735" y="168744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9" name="Picture 8" descr="A blue circle with a dot&#10;&#10;AI-generated content may be incorrect.">
            <a:extLst>
              <a:ext uri="{FF2B5EF4-FFF2-40B4-BE49-F238E27FC236}">
                <a16:creationId xmlns:a16="http://schemas.microsoft.com/office/drawing/2014/main" id="{E8696B38-957D-4AEF-9674-19EE2811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4" y="2100199"/>
            <a:ext cx="717280" cy="745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D14ED6-6850-965B-DE0A-56921F59A474}"/>
              </a:ext>
            </a:extLst>
          </p:cNvPr>
          <p:cNvSpPr txBox="1"/>
          <p:nvPr/>
        </p:nvSpPr>
        <p:spPr>
          <a:xfrm>
            <a:off x="2046558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DBCB0-AC6B-D249-6DE0-A3DFDAE6EB25}"/>
              </a:ext>
            </a:extLst>
          </p:cNvPr>
          <p:cNvSpPr txBox="1"/>
          <p:nvPr/>
        </p:nvSpPr>
        <p:spPr>
          <a:xfrm>
            <a:off x="121320" y="553423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E2BB3BF5-8DB5-D246-8468-C4887D540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0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BBA9FC-5A5B-46C9-8C6F-D5F4FABB3635}"/>
              </a:ext>
            </a:extLst>
          </p:cNvPr>
          <p:cNvCxnSpPr>
            <a:stCxn id="12" idx="3"/>
          </p:cNvCxnSpPr>
          <p:nvPr/>
        </p:nvCxnSpPr>
        <p:spPr>
          <a:xfrm>
            <a:off x="1508366" y="3428994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300687-9C7D-566F-B37B-0C414BB7C394}"/>
              </a:ext>
            </a:extLst>
          </p:cNvPr>
          <p:cNvCxnSpPr>
            <a:stCxn id="10" idx="3"/>
            <a:endCxn id="8" idx="3"/>
          </p:cNvCxnSpPr>
          <p:nvPr/>
        </p:nvCxnSpPr>
        <p:spPr>
          <a:xfrm>
            <a:off x="3071591" y="3428994"/>
            <a:ext cx="105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63FDB9-9EC9-9663-570B-759B39231BD3}"/>
              </a:ext>
            </a:extLst>
          </p:cNvPr>
          <p:cNvSpPr txBox="1"/>
          <p:nvPr/>
        </p:nvSpPr>
        <p:spPr>
          <a:xfrm>
            <a:off x="2046558" y="5534235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DDCF31-FDD0-51E9-7CFF-B473ED20B1E1}"/>
              </a:ext>
            </a:extLst>
          </p:cNvPr>
          <p:cNvSpPr txBox="1"/>
          <p:nvPr/>
        </p:nvSpPr>
        <p:spPr>
          <a:xfrm>
            <a:off x="205157" y="1256660"/>
            <a:ext cx="121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Cell x gene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04E29-3E1E-FC64-AB57-624750370428}"/>
              </a:ext>
            </a:extLst>
          </p:cNvPr>
          <p:cNvSpPr txBox="1"/>
          <p:nvPr/>
        </p:nvSpPr>
        <p:spPr>
          <a:xfrm>
            <a:off x="2046557" y="599590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35D5FFC-C058-0221-AE27-27EDD6A5E725}"/>
              </a:ext>
            </a:extLst>
          </p:cNvPr>
          <p:cNvSpPr/>
          <p:nvPr/>
        </p:nvSpPr>
        <p:spPr>
          <a:xfrm>
            <a:off x="7063516" y="168744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</a:t>
            </a:r>
          </a:p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Decoder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E64E63-7A18-33EE-8CB9-3C1BD119BE75}"/>
              </a:ext>
            </a:extLst>
          </p:cNvPr>
          <p:cNvSpPr txBox="1"/>
          <p:nvPr/>
        </p:nvSpPr>
        <p:spPr>
          <a:xfrm>
            <a:off x="9911321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322D1-1988-B446-61EF-E7A6F671F9BC}"/>
              </a:ext>
            </a:extLst>
          </p:cNvPr>
          <p:cNvSpPr txBox="1"/>
          <p:nvPr/>
        </p:nvSpPr>
        <p:spPr>
          <a:xfrm>
            <a:off x="9932918" y="5621980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F5C9B6-B917-EF9B-2A17-ED8CAEE66065}"/>
              </a:ext>
            </a:extLst>
          </p:cNvPr>
          <p:cNvCxnSpPr>
            <a:stCxn id="8" idx="0"/>
            <a:endCxn id="25" idx="2"/>
          </p:cNvCxnSpPr>
          <p:nvPr/>
        </p:nvCxnSpPr>
        <p:spPr>
          <a:xfrm rot="16200000" flipH="1">
            <a:off x="4739236" y="1958103"/>
            <a:ext cx="3483091" cy="2941781"/>
          </a:xfrm>
          <a:prstGeom prst="bentConnector5">
            <a:avLst>
              <a:gd name="adj1" fmla="val -6563"/>
              <a:gd name="adj2" fmla="val 50000"/>
              <a:gd name="adj3" fmla="val 106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8A74590-0108-3626-0BEF-095306441385}"/>
              </a:ext>
            </a:extLst>
          </p:cNvPr>
          <p:cNvCxnSpPr>
            <a:stCxn id="25" idx="0"/>
            <a:endCxn id="26" idx="1"/>
          </p:cNvCxnSpPr>
          <p:nvPr/>
        </p:nvCxnSpPr>
        <p:spPr>
          <a:xfrm rot="16200000" flipH="1">
            <a:off x="8060724" y="1578397"/>
            <a:ext cx="1741546" cy="1959648"/>
          </a:xfrm>
          <a:prstGeom prst="bentConnector4">
            <a:avLst>
              <a:gd name="adj1" fmla="val -13126"/>
              <a:gd name="adj2" fmla="val 72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50B30C2-17D6-8964-213F-41519B247F8C}"/>
              </a:ext>
            </a:extLst>
          </p:cNvPr>
          <p:cNvSpPr txBox="1"/>
          <p:nvPr/>
        </p:nvSpPr>
        <p:spPr>
          <a:xfrm>
            <a:off x="130556" y="5995900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B1BECA-A81F-741A-97CC-5B70AA137FFE}"/>
              </a:ext>
            </a:extLst>
          </p:cNvPr>
          <p:cNvSpPr txBox="1"/>
          <p:nvPr/>
        </p:nvSpPr>
        <p:spPr>
          <a:xfrm>
            <a:off x="9932918" y="6083645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63626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9D6C-8BB9-D557-A533-4FE75E09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7B2B56-AA60-206A-2BE3-017E5DDCEC40}"/>
              </a:ext>
            </a:extLst>
          </p:cNvPr>
          <p:cNvSpPr/>
          <p:nvPr/>
        </p:nvSpPr>
        <p:spPr>
          <a:xfrm>
            <a:off x="175319" y="64800"/>
            <a:ext cx="3925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pc="-1" dirty="0">
                <a:solidFill>
                  <a:srgbClr val="000000"/>
                </a:solidFill>
                <a:latin typeface="Calibri"/>
              </a:rPr>
              <a:t>3. GENEFORMER FOR VCC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72B70ADD-32A2-B026-D118-58409E4A6605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95FAC66-CBF4-3644-9E9C-505D4CF71363}"/>
              </a:ext>
            </a:extLst>
          </p:cNvPr>
          <p:cNvSpPr/>
          <p:nvPr/>
        </p:nvSpPr>
        <p:spPr>
          <a:xfrm>
            <a:off x="175319" y="577418"/>
            <a:ext cx="483457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3. 1. Limitations of using Geneformer Decoder</a:t>
            </a:r>
          </a:p>
          <a:p>
            <a:pPr>
              <a:lnSpc>
                <a:spcPct val="100000"/>
              </a:lnSpc>
            </a:pPr>
            <a:endParaRPr lang="en-IN" sz="1600" b="1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43B4ECB-3286-02C3-FD57-8D935287406B}"/>
              </a:ext>
            </a:extLst>
          </p:cNvPr>
          <p:cNvSpPr/>
          <p:nvPr/>
        </p:nvSpPr>
        <p:spPr>
          <a:xfrm>
            <a:off x="4144439" y="1687447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9" name="Picture 8" descr="A blue circle with a dot&#10;&#10;AI-generated content may be incorrect.">
            <a:extLst>
              <a:ext uri="{FF2B5EF4-FFF2-40B4-BE49-F238E27FC236}">
                <a16:creationId xmlns:a16="http://schemas.microsoft.com/office/drawing/2014/main" id="{7D1323A6-26D7-F8F1-BAA2-1D52E4DD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4" y="2100200"/>
            <a:ext cx="694576" cy="722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F00508-A93D-E049-4404-7D7CCE4DAA1F}"/>
              </a:ext>
            </a:extLst>
          </p:cNvPr>
          <p:cNvSpPr txBox="1"/>
          <p:nvPr/>
        </p:nvSpPr>
        <p:spPr>
          <a:xfrm>
            <a:off x="2046558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5F49E-A099-B049-7AA6-267E1B3D3717}"/>
              </a:ext>
            </a:extLst>
          </p:cNvPr>
          <p:cNvSpPr txBox="1"/>
          <p:nvPr/>
        </p:nvSpPr>
        <p:spPr>
          <a:xfrm>
            <a:off x="121320" y="553423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A447C83C-CF23-3155-BA23-5035EA8C9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0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40A4B4-652F-1137-22B2-76EC1C20C8B8}"/>
              </a:ext>
            </a:extLst>
          </p:cNvPr>
          <p:cNvCxnSpPr>
            <a:stCxn id="12" idx="3"/>
          </p:cNvCxnSpPr>
          <p:nvPr/>
        </p:nvCxnSpPr>
        <p:spPr>
          <a:xfrm>
            <a:off x="1508366" y="3428994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447766-D0FB-D12C-D16D-CCF2F7544B66}"/>
              </a:ext>
            </a:extLst>
          </p:cNvPr>
          <p:cNvCxnSpPr>
            <a:stCxn id="10" idx="3"/>
            <a:endCxn id="8" idx="3"/>
          </p:cNvCxnSpPr>
          <p:nvPr/>
        </p:nvCxnSpPr>
        <p:spPr>
          <a:xfrm flipV="1">
            <a:off x="3071591" y="3428993"/>
            <a:ext cx="10728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FB13446-59ED-051E-686F-1C2487CA5E63}"/>
              </a:ext>
            </a:extLst>
          </p:cNvPr>
          <p:cNvSpPr txBox="1"/>
          <p:nvPr/>
        </p:nvSpPr>
        <p:spPr>
          <a:xfrm>
            <a:off x="2046558" y="5534235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81250-0907-E493-D69D-EA186EFB6CEC}"/>
              </a:ext>
            </a:extLst>
          </p:cNvPr>
          <p:cNvSpPr txBox="1"/>
          <p:nvPr/>
        </p:nvSpPr>
        <p:spPr>
          <a:xfrm>
            <a:off x="205157" y="1256660"/>
            <a:ext cx="121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Cell x gene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59A13-A678-7A22-23BB-ECA32A7EA22C}"/>
              </a:ext>
            </a:extLst>
          </p:cNvPr>
          <p:cNvSpPr txBox="1"/>
          <p:nvPr/>
        </p:nvSpPr>
        <p:spPr>
          <a:xfrm>
            <a:off x="2046557" y="599590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EB33E1-3979-79D6-45A3-00C77866EAE9}"/>
              </a:ext>
            </a:extLst>
          </p:cNvPr>
          <p:cNvSpPr txBox="1"/>
          <p:nvPr/>
        </p:nvSpPr>
        <p:spPr>
          <a:xfrm>
            <a:off x="130556" y="5995900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pic>
        <p:nvPicPr>
          <p:cNvPr id="7170" name="Picture 2" descr="Custom Model Pre Trained Neural Network Back Propagation Algorithm  Royalty-Free Images, Stock Photos">
            <a:extLst>
              <a:ext uri="{FF2B5EF4-FFF2-40B4-BE49-F238E27FC236}">
                <a16:creationId xmlns:a16="http://schemas.microsoft.com/office/drawing/2014/main" id="{0C64C700-BA67-379E-5349-BA03DC881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7" r="30505"/>
          <a:stretch>
            <a:fillRect/>
          </a:stretch>
        </p:blipFill>
        <p:spPr bwMode="auto">
          <a:xfrm>
            <a:off x="7620000" y="2000242"/>
            <a:ext cx="2216728" cy="28575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82B27A-BCDE-886A-A229-DA09C0004232}"/>
              </a:ext>
            </a:extLst>
          </p:cNvPr>
          <p:cNvCxnSpPr>
            <a:cxnSpLocks/>
            <a:stCxn id="8" idx="1"/>
            <a:endCxn id="7170" idx="1"/>
          </p:cNvCxnSpPr>
          <p:nvPr/>
        </p:nvCxnSpPr>
        <p:spPr>
          <a:xfrm flipV="1">
            <a:off x="5920752" y="3428992"/>
            <a:ext cx="16992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3AD415F8-8D4E-F30E-89A1-5E6000FE5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848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EECC61-C339-46B3-78AE-8E0E06699EA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836728" y="3428992"/>
            <a:ext cx="68012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92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A1F1E2-A0EF-0B02-2601-FB5D9DA534EF}"/>
              </a:ext>
            </a:extLst>
          </p:cNvPr>
          <p:cNvSpPr txBox="1"/>
          <p:nvPr/>
        </p:nvSpPr>
        <p:spPr>
          <a:xfrm>
            <a:off x="230909" y="3279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1" strike="noStrike" spc="-1" dirty="0">
                <a:solidFill>
                  <a:srgbClr val="000000"/>
                </a:solidFill>
                <a:latin typeface="Calibri"/>
              </a:rPr>
              <a:t>3. 2. </a:t>
            </a:r>
            <a:r>
              <a:rPr lang="en-IN" b="1" spc="-1" dirty="0">
                <a:solidFill>
                  <a:srgbClr val="000000"/>
                </a:solidFill>
                <a:latin typeface="Calibri"/>
              </a:rPr>
              <a:t>Design for the Model</a:t>
            </a:r>
            <a:endParaRPr lang="en-IN" sz="18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00037-9BD4-1817-51E5-226538C28341}"/>
              </a:ext>
            </a:extLst>
          </p:cNvPr>
          <p:cNvSpPr txBox="1"/>
          <p:nvPr/>
        </p:nvSpPr>
        <p:spPr>
          <a:xfrm>
            <a:off x="452582" y="108625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Cell input vector (4096)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1024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2048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4096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8192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Output Layer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18,080 gene expression values</a:t>
            </a:r>
          </a:p>
        </p:txBody>
      </p:sp>
      <p:pic>
        <p:nvPicPr>
          <p:cNvPr id="11" name="Picture 10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CA1A50D4-ABA3-B578-3845-0724E8E0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81" y="2653303"/>
            <a:ext cx="3077004" cy="1057423"/>
          </a:xfrm>
          <a:prstGeom prst="rect">
            <a:avLst/>
          </a:prstGeom>
        </p:spPr>
      </p:pic>
      <p:pic>
        <p:nvPicPr>
          <p:cNvPr id="13" name="Picture 12" descr="A black and white image of a star with a star in the middle&#10;&#10;AI-generated content may be incorrect.">
            <a:extLst>
              <a:ext uri="{FF2B5EF4-FFF2-40B4-BE49-F238E27FC236}">
                <a16:creationId xmlns:a16="http://schemas.microsoft.com/office/drawing/2014/main" id="{228B45BC-7BBD-B42E-1B66-1C2556406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785" y="4674043"/>
            <a:ext cx="4582914" cy="15451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5E4405-72A2-A16C-6862-1A4166E3EA02}"/>
              </a:ext>
            </a:extLst>
          </p:cNvPr>
          <p:cNvSpPr txBox="1"/>
          <p:nvPr/>
        </p:nvSpPr>
        <p:spPr>
          <a:xfrm>
            <a:off x="6428509" y="406400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MSE LOSS PER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69CB5-5D10-0767-DE94-D18287D28D49}"/>
              </a:ext>
            </a:extLst>
          </p:cNvPr>
          <p:cNvSpPr txBox="1"/>
          <p:nvPr/>
        </p:nvSpPr>
        <p:spPr>
          <a:xfrm>
            <a:off x="6327867" y="3896247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MSE LOSS FOR THE ENTIRE BATCH</a:t>
            </a:r>
          </a:p>
        </p:txBody>
      </p:sp>
    </p:spTree>
    <p:extLst>
      <p:ext uri="{BB962C8B-B14F-4D97-AF65-F5344CB8AC3E}">
        <p14:creationId xmlns:p14="http://schemas.microsoft.com/office/powerpoint/2010/main" val="2228959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95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550</Words>
  <Application>Microsoft Office PowerPoint</Application>
  <PresentationFormat>Widescreen</PresentationFormat>
  <Paragraphs>224</Paragraphs>
  <Slides>17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Vasudev R</dc:creator>
  <cp:lastModifiedBy>Vasudev R</cp:lastModifiedBy>
  <cp:revision>114</cp:revision>
  <dcterms:created xsi:type="dcterms:W3CDTF">2025-12-15T17:33:04Z</dcterms:created>
  <dcterms:modified xsi:type="dcterms:W3CDTF">2025-12-17T16:43:51Z</dcterms:modified>
</cp:coreProperties>
</file>