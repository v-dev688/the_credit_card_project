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6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7B963F-140C-4B60-9990-8E3B37C7D5E8}" v="11" dt="2025-12-18T02:31:48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8D8A7-F6D2-9874-4192-529488483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D90AA-DBD9-8CAB-D63D-BDBB51040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99A93-C070-04E3-3F60-A5D2D9593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36CD1-B2A9-53C4-1A7F-E30562C23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62ABB-4A69-0945-DC95-5D6FFE85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984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8474D-98C9-36BB-2BEF-89DA417A0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846DD-EE9F-7345-54C3-013C5F9FB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CA08D-C721-7EB0-F2C9-DDC9F7ED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462B4-EBB9-C9DE-0960-51D4BAD7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CD1A8-6782-275B-334C-F043168B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89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AFA90-D4F6-DB41-7B27-C56BF6D6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111F3-3DE3-7B93-A625-7261D5CBF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FCDA9-01FD-E636-44BC-F3B6C80CE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DECBD-0AA8-70AB-0F23-61E768B1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C2F4A-39CB-55D2-8296-385CD4E5C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67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AEC21-4357-EA6A-6F40-6AB793E5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9E463-A086-E9C8-15A9-99E8B1E57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28551-2783-121F-9896-2A893B3882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38E6B-EE26-275C-F78D-65988421B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B0599-313D-844B-8FD0-FA203501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4B8B9-7032-6990-52F9-23FA2726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99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71AC2-0E58-65A6-C08C-110F2B5CC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0C467-66A8-17CB-A804-66E79FE10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9EDD0-9AB2-AD9B-7D79-92026D4D6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81699C-90D6-1486-2EDB-C37153BFE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BAFD6-6ACA-21D6-2FA4-8D51C5A96E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4E7F79-BB8B-5ACC-DEE9-F322BB671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9A85BA-3CB9-C85E-0FA1-EF66A0DD8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0E7DC7-4E08-96A2-37EF-972084113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219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6E167-ECF4-6C8C-1374-B32E1944A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AF7FAE-F9A0-C07F-B8AC-7F811479B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B24AF-F62B-83B8-57AF-A895A57D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96449-D5A7-3B4B-F350-8CCE2B5C4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821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773B4-1FC1-6A97-F3FE-93D903DF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6EB2F-5CAF-7C6E-DE2C-716A81F7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EA10C-8D5E-2100-E2AD-BCDFAE846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556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6DC87-6A8B-8031-0B6F-FBA61E9D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E8F6-587A-85A5-360A-1C32E3618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92652-2C1A-F63E-0304-F55848C88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97BD8-6715-B0D6-EEFF-AD8ABDB6E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9C968-7E99-1173-0CD3-659DB87E9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169A2-A842-FC8A-53F7-D7BF0D990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529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14DBC-F880-EDDA-EBB4-1DD79FA1E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3DCC54-06DB-DA50-EC11-6D54239B8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9B4F7-6DBC-86C0-AF93-490CA2025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CA05F-A065-8025-3903-CAC58AC87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EB3EF-1167-3D0F-F85D-18352A4C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5D566-E742-8950-5DE5-7507183E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56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47BF4-607E-5428-BA9C-316DC59A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7D0F7-A95B-FF5F-FB4B-C78CA2D96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C24A8-ACA1-3642-3F03-5E3FE9A9C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C4CC8-5C24-3282-3C09-AD0895F8D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384F3-463B-3756-789C-318094695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295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2B569-50B2-2774-1E67-2C058D7E7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791BF-C0AA-F459-620F-1EC4AE2A9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8CC9F-085A-1188-CE65-56430D43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3864E-6725-673A-0204-8EABF1CE6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2A369-02B0-CF89-A28E-2231FEC4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670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7D44906-3EBD-9E31-E3E3-EE39065E14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335485"/>
            <a:ext cx="12192001" cy="5225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12D6B6-5498-DDF8-9930-370510CC31E3}"/>
              </a:ext>
            </a:extLst>
          </p:cNvPr>
          <p:cNvSpPr txBox="1"/>
          <p:nvPr userDrawn="1"/>
        </p:nvSpPr>
        <p:spPr>
          <a:xfrm>
            <a:off x="10858561" y="6461809"/>
            <a:ext cx="12418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>
                <a:solidFill>
                  <a:schemeClr val="bg1"/>
                </a:solidFill>
              </a:rPr>
              <a:t>www.thinkbio.ai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FFDEEBC-1C0E-5900-6F2D-AADD3A56D1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474" y="697255"/>
            <a:ext cx="2719526" cy="541022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2117F13-E943-C9FF-F5A6-CA313B69E9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2444" y="6438153"/>
            <a:ext cx="1251305" cy="31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189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D3A690-FB1E-7F1D-FF9C-1EAE8715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35F15-7095-2581-BBDB-927624C03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E729D-EF64-3EA2-590A-E95318BAC5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C010-BFFB-40E7-91F7-E207EA46A40B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9F94D-69AE-3DE4-71EE-4B13ED194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0C7FA-AFC9-7172-CBA2-90AB8CFCE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CAA86-DD78-4C86-939F-FEC5B00DA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31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29261-191D-B686-F953-A4EAFD7C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0BAAF51-127D-8ABE-1361-35C3EA66602A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 panose="020B0004020202020204" pitchFamily="34" charset="0"/>
              </a:rPr>
              <a:t>Agenda</a:t>
            </a: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1CBABCF6-34FF-8AB5-EAF3-ED0A66A7960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766624" y="361638"/>
            <a:ext cx="1883814" cy="452504"/>
          </a:xfrm>
          <a:prstGeom prst="rect">
            <a:avLst/>
          </a:prstGeom>
          <a:ln w="0"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A42EB5D-A933-F570-15BE-6A19B27FBCDE}"/>
              </a:ext>
            </a:extLst>
          </p:cNvPr>
          <p:cNvSpPr txBox="1"/>
          <p:nvPr/>
        </p:nvSpPr>
        <p:spPr>
          <a:xfrm>
            <a:off x="344680" y="884858"/>
            <a:ext cx="86713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Good morning, everyone.</a:t>
            </a:r>
            <a:br>
              <a:rPr lang="en-US" dirty="0"/>
            </a:br>
            <a:r>
              <a:rPr lang="en-US" dirty="0"/>
              <a:t>Thank you, John, and thank you all for your time.</a:t>
            </a:r>
            <a:br>
              <a:rPr lang="en-US" dirty="0"/>
            </a:br>
            <a:r>
              <a:rPr lang="en-US" dirty="0"/>
              <a:t>Over the next thirty minutes, I will discuss how </a:t>
            </a:r>
            <a:r>
              <a:rPr lang="en-US" b="1" dirty="0" err="1"/>
              <a:t>Geneformer’s</a:t>
            </a:r>
            <a:r>
              <a:rPr lang="en-US" b="1" dirty="0"/>
              <a:t> in-silico perturbation capability</a:t>
            </a:r>
            <a:r>
              <a:rPr lang="en-US" dirty="0"/>
              <a:t> was applied to the </a:t>
            </a:r>
            <a:r>
              <a:rPr lang="en-US" b="1" dirty="0"/>
              <a:t>Virtual Cell Challenge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The agenda for today’s discussion is organized into these </a:t>
            </a:r>
            <a:r>
              <a:rPr lang="en-US" b="1" dirty="0"/>
              <a:t>four main sections</a:t>
            </a:r>
            <a:r>
              <a:rPr lang="en-US" dirty="0"/>
              <a:t>. And all of these are connected to one another if you look</a:t>
            </a:r>
          </a:p>
          <a:p>
            <a:pPr>
              <a:buNone/>
            </a:pPr>
            <a:r>
              <a:rPr lang="en-US" dirty="0"/>
              <a:t>First, I will provide a brief overview of </a:t>
            </a:r>
            <a:r>
              <a:rPr lang="en-US" b="1" dirty="0"/>
              <a:t>gene embeddings</a:t>
            </a:r>
            <a:r>
              <a:rPr lang="en-US" dirty="0"/>
              <a:t>, how these embeddings are derived from </a:t>
            </a:r>
            <a:r>
              <a:rPr lang="en-US" dirty="0" err="1"/>
              <a:t>Geneformer</a:t>
            </a:r>
            <a:r>
              <a:rPr lang="en-US" dirty="0"/>
              <a:t>, and an introduction to </a:t>
            </a:r>
            <a:r>
              <a:rPr lang="en-US" b="1" dirty="0"/>
              <a:t>in-silico perturbation</a:t>
            </a:r>
            <a:r>
              <a:rPr lang="en-US" dirty="0"/>
              <a:t>, including how this process is implemented within </a:t>
            </a:r>
            <a:r>
              <a:rPr lang="en-US" dirty="0" err="1"/>
              <a:t>Geneformer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Next, I will explain how the </a:t>
            </a:r>
            <a:r>
              <a:rPr lang="en-US" b="1" dirty="0"/>
              <a:t>Virtual Cell Challenge</a:t>
            </a:r>
            <a:r>
              <a:rPr lang="en-US" dirty="0"/>
              <a:t> is connected to in-silico perturbation.</a:t>
            </a:r>
          </a:p>
          <a:p>
            <a:pPr>
              <a:buNone/>
            </a:pPr>
            <a:r>
              <a:rPr lang="en-US" dirty="0"/>
              <a:t>The third section focuses on how </a:t>
            </a:r>
            <a:r>
              <a:rPr lang="en-US" b="1" dirty="0" err="1"/>
              <a:t>Geneformer’s</a:t>
            </a:r>
            <a:r>
              <a:rPr lang="en-US" b="1" dirty="0"/>
              <a:t> in-silico perturbation capability</a:t>
            </a:r>
            <a:r>
              <a:rPr lang="en-US" dirty="0"/>
              <a:t> was specifically applied to the Virtual Cell Challenge.</a:t>
            </a:r>
          </a:p>
          <a:p>
            <a:pPr>
              <a:buNone/>
            </a:pPr>
            <a:r>
              <a:rPr lang="en-US" dirty="0"/>
              <a:t>Finally, I will present the </a:t>
            </a:r>
            <a:r>
              <a:rPr lang="en-US" b="1" dirty="0"/>
              <a:t>results obtained</a:t>
            </a:r>
            <a:r>
              <a:rPr lang="en-US" dirty="0"/>
              <a:t>. To keep this section concise, I will focus on the </a:t>
            </a:r>
            <a:r>
              <a:rPr lang="en-US" b="1" dirty="0"/>
              <a:t>two most effective approaches</a:t>
            </a:r>
            <a:r>
              <a:rPr lang="en-US" dirty="0"/>
              <a:t> that were used.</a:t>
            </a:r>
          </a:p>
        </p:txBody>
      </p:sp>
    </p:spTree>
    <p:extLst>
      <p:ext uri="{BB962C8B-B14F-4D97-AF65-F5344CB8AC3E}">
        <p14:creationId xmlns:p14="http://schemas.microsoft.com/office/powerpoint/2010/main" val="337462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004A51-7A60-3FC5-CD0B-9A141532B2F2}"/>
              </a:ext>
            </a:extLst>
          </p:cNvPr>
          <p:cNvSpPr txBox="1"/>
          <p:nvPr/>
        </p:nvSpPr>
        <p:spPr>
          <a:xfrm>
            <a:off x="274320" y="813816"/>
            <a:ext cx="11750040" cy="53553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Geneformer</a:t>
            </a:r>
            <a:r>
              <a:rPr lang="en-US" dirty="0"/>
              <a:t> is a </a:t>
            </a:r>
            <a:r>
              <a:rPr lang="en-US" b="1" dirty="0"/>
              <a:t>BERT-based biomedical foundation model</a:t>
            </a:r>
            <a:r>
              <a:rPr lang="en-US" dirty="0"/>
              <a:t> trained on approximately </a:t>
            </a:r>
            <a:r>
              <a:rPr lang="en-US" b="1" dirty="0"/>
              <a:t>316 million single-cell transcriptomic profiles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explain how </a:t>
            </a:r>
            <a:r>
              <a:rPr lang="en-US" b="1" dirty="0"/>
              <a:t>gene embeddings</a:t>
            </a:r>
            <a:r>
              <a:rPr lang="en-US" dirty="0"/>
              <a:t> are extracted from </a:t>
            </a:r>
            <a:r>
              <a:rPr lang="en-US" dirty="0" err="1"/>
              <a:t>Geneformer</a:t>
            </a:r>
            <a:r>
              <a:rPr lang="en-US" dirty="0"/>
              <a:t>, we start with the model input.</a:t>
            </a:r>
            <a:br>
              <a:rPr lang="en-US" dirty="0"/>
            </a:br>
            <a:r>
              <a:rPr lang="en-US" dirty="0"/>
              <a:t>Each cell is provided to </a:t>
            </a:r>
            <a:r>
              <a:rPr lang="en-US" dirty="0" err="1"/>
              <a:t>Geneformer</a:t>
            </a:r>
            <a:r>
              <a:rPr lang="en-US" dirty="0"/>
              <a:t> in the form of a </a:t>
            </a:r>
            <a:r>
              <a:rPr lang="en-US" b="1" dirty="0"/>
              <a:t>cell-by-gene expression matrix</a:t>
            </a:r>
            <a:r>
              <a:rPr lang="en-US" dirty="0"/>
              <a:t>. When this input is passed through </a:t>
            </a:r>
            <a:r>
              <a:rPr lang="en-US" dirty="0" err="1"/>
              <a:t>Geneformer’s</a:t>
            </a:r>
            <a:r>
              <a:rPr lang="en-US" dirty="0"/>
              <a:t> </a:t>
            </a:r>
            <a:r>
              <a:rPr lang="en-US" b="1" dirty="0"/>
              <a:t>tokenizer</a:t>
            </a:r>
            <a:r>
              <a:rPr lang="en-US" dirty="0"/>
              <a:t>, the model identifies the </a:t>
            </a:r>
            <a:r>
              <a:rPr lang="en-US" b="1" dirty="0"/>
              <a:t>top 4,096 highly variable genes</a:t>
            </a:r>
            <a:r>
              <a:rPr lang="en-US" dirty="0"/>
              <a:t>, regardless of the total number of genes present in the cell.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selected genes are then </a:t>
            </a:r>
            <a:r>
              <a:rPr lang="en-US" b="1" dirty="0"/>
              <a:t>ranked</a:t>
            </a:r>
            <a:r>
              <a:rPr lang="en-US" dirty="0"/>
              <a:t> based on their importance, with </a:t>
            </a:r>
            <a:r>
              <a:rPr lang="en-US" b="1" dirty="0"/>
              <a:t>transcription factors</a:t>
            </a:r>
            <a:r>
              <a:rPr lang="en-US" dirty="0"/>
              <a:t> typically appearing at the top of the ranking and </a:t>
            </a:r>
            <a:r>
              <a:rPr lang="en-US" b="1" dirty="0"/>
              <a:t>housekeeping genes</a:t>
            </a:r>
            <a:r>
              <a:rPr lang="en-US" dirty="0"/>
              <a:t> toward the bottom. This structured input representation is referred to as </a:t>
            </a:r>
            <a:r>
              <a:rPr lang="en-US" b="1" dirty="0"/>
              <a:t>rank-value encoding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rank-value encoded representation is subsequently passed to </a:t>
            </a:r>
            <a:r>
              <a:rPr lang="en-US" dirty="0" err="1"/>
              <a:t>Geneformer’s</a:t>
            </a:r>
            <a:r>
              <a:rPr lang="en-US" dirty="0"/>
              <a:t> </a:t>
            </a:r>
            <a:r>
              <a:rPr lang="en-US" b="1" dirty="0"/>
              <a:t>encoder</a:t>
            </a:r>
            <a:r>
              <a:rPr lang="en-US" dirty="0"/>
              <a:t>, which produces </a:t>
            </a:r>
            <a:r>
              <a:rPr lang="en-US" b="1" dirty="0"/>
              <a:t>gene-level embeddings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C0C0C0"/>
                </a:highlight>
              </a:rPr>
              <a:t>Gene embeddings are </a:t>
            </a:r>
            <a:r>
              <a:rPr lang="en-US" b="1" dirty="0">
                <a:highlight>
                  <a:srgbClr val="C0C0C0"/>
                </a:highlight>
              </a:rPr>
              <a:t>dense vector representations</a:t>
            </a:r>
            <a:r>
              <a:rPr lang="en-US" dirty="0">
                <a:highlight>
                  <a:srgbClr val="C0C0C0"/>
                </a:highlight>
              </a:rPr>
              <a:t> that capture the functional and contextual properties of genes within a specific cellular state. In biomedical foundation models, these embeddings are learned from large-scale single-cell RNA-seq data using </a:t>
            </a:r>
            <a:r>
              <a:rPr lang="en-US" b="1" dirty="0">
                <a:highlight>
                  <a:srgbClr val="C0C0C0"/>
                </a:highlight>
              </a:rPr>
              <a:t>transformer architectures</a:t>
            </a:r>
            <a:r>
              <a:rPr lang="en-US" dirty="0">
                <a:highlight>
                  <a:srgbClr val="C0C0C0"/>
                </a:highlight>
              </a:rPr>
              <a:t>. Each gene embedding reflects </a:t>
            </a:r>
            <a:r>
              <a:rPr lang="en-US" b="1" dirty="0">
                <a:highlight>
                  <a:srgbClr val="C0C0C0"/>
                </a:highlight>
              </a:rPr>
              <a:t>co-expression patterns</a:t>
            </a:r>
            <a:r>
              <a:rPr lang="en-US" dirty="0">
                <a:highlight>
                  <a:srgbClr val="C0C0C0"/>
                </a:highlight>
              </a:rPr>
              <a:t>, </a:t>
            </a:r>
            <a:r>
              <a:rPr lang="en-US" b="1" dirty="0">
                <a:highlight>
                  <a:srgbClr val="C0C0C0"/>
                </a:highlight>
              </a:rPr>
              <a:t>regulatory relationships</a:t>
            </a:r>
            <a:r>
              <a:rPr lang="en-US" dirty="0">
                <a:highlight>
                  <a:srgbClr val="C0C0C0"/>
                </a:highlight>
              </a:rPr>
              <a:t>, and </a:t>
            </a:r>
            <a:r>
              <a:rPr lang="en-US" b="1" dirty="0">
                <a:highlight>
                  <a:srgbClr val="C0C0C0"/>
                </a:highlight>
              </a:rPr>
              <a:t>shared cellular contexts</a:t>
            </a:r>
            <a:r>
              <a:rPr lang="en-US" dirty="0">
                <a:highlight>
                  <a:srgbClr val="C0C0C0"/>
                </a:highlight>
              </a:rPr>
              <a:t>. As a result, distances and directions within the embedding space correspond to </a:t>
            </a:r>
            <a:r>
              <a:rPr lang="en-US" b="1" dirty="0">
                <a:highlight>
                  <a:srgbClr val="C0C0C0"/>
                </a:highlight>
              </a:rPr>
              <a:t>biological similarity</a:t>
            </a:r>
            <a:r>
              <a:rPr lang="en-US" dirty="0">
                <a:highlight>
                  <a:srgbClr val="C0C0C0"/>
                </a:highlight>
              </a:rPr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In </a:t>
            </a:r>
            <a:r>
              <a:rPr lang="en-US" dirty="0" err="1"/>
              <a:t>Geneformer</a:t>
            </a:r>
            <a:r>
              <a:rPr lang="en-US" dirty="0"/>
              <a:t>, the </a:t>
            </a:r>
            <a:r>
              <a:rPr lang="en-US" b="1" dirty="0"/>
              <a:t>gene embeddings within a cell are averaged</a:t>
            </a:r>
            <a:r>
              <a:rPr lang="en-US" dirty="0"/>
              <a:t> to obtain a single </a:t>
            </a:r>
            <a:r>
              <a:rPr lang="en-US" b="1" dirty="0"/>
              <a:t>cell embedding</a:t>
            </a:r>
            <a:r>
              <a:rPr lang="en-US" dirty="0"/>
              <a:t>, which represents the overall cellular state.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EE768F-477F-4859-5433-1F10498A86C0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Gene Embeddings  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2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63387B-31ED-1B9A-CE93-5BE2674BE5A4}"/>
              </a:ext>
            </a:extLst>
          </p:cNvPr>
          <p:cNvSpPr txBox="1"/>
          <p:nvPr/>
        </p:nvSpPr>
        <p:spPr>
          <a:xfrm>
            <a:off x="173736" y="896112"/>
            <a:ext cx="11192256" cy="52629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What Perturbation is ?</a:t>
            </a:r>
          </a:p>
          <a:p>
            <a:r>
              <a:rPr lang="en-US" dirty="0"/>
              <a:t>Perturbation means a </a:t>
            </a:r>
            <a:r>
              <a:rPr lang="en-US" dirty="0">
                <a:highlight>
                  <a:srgbClr val="C0C0C0"/>
                </a:highlight>
              </a:rPr>
              <a:t>small change or disturbance</a:t>
            </a:r>
            <a:r>
              <a:rPr lang="en-US" dirty="0"/>
              <a:t> to a system, affecting its regular </a:t>
            </a:r>
            <a:r>
              <a:rPr lang="en-US" dirty="0">
                <a:highlight>
                  <a:srgbClr val="C0C0C0"/>
                </a:highlight>
              </a:rPr>
              <a:t>motion, behavior, or quality</a:t>
            </a:r>
          </a:p>
          <a:p>
            <a:endParaRPr lang="en-US" dirty="0">
              <a:highlight>
                <a:srgbClr val="C0C0C0"/>
              </a:highlight>
            </a:endParaRPr>
          </a:p>
          <a:p>
            <a:r>
              <a:rPr lang="en-IN" dirty="0"/>
              <a:t>And </a:t>
            </a:r>
            <a:r>
              <a:rPr lang="en-IN" dirty="0">
                <a:highlight>
                  <a:srgbClr val="C0C0C0"/>
                </a:highlight>
              </a:rPr>
              <a:t>About </a:t>
            </a:r>
            <a:r>
              <a:rPr lang="en-IN" dirty="0" err="1">
                <a:highlight>
                  <a:srgbClr val="C0C0C0"/>
                </a:highlight>
              </a:rPr>
              <a:t>insilico</a:t>
            </a:r>
            <a:r>
              <a:rPr lang="en-IN" dirty="0">
                <a:highlight>
                  <a:srgbClr val="C0C0C0"/>
                </a:highlight>
              </a:rPr>
              <a:t> Perturbation specifically </a:t>
            </a:r>
            <a:r>
              <a:rPr lang="en-US" dirty="0">
                <a:highlight>
                  <a:srgbClr val="C0C0C0"/>
                </a:highlight>
              </a:rPr>
              <a:t>computational simulation of biological interventions </a:t>
            </a:r>
            <a:r>
              <a:rPr lang="en-US" dirty="0"/>
              <a:t>using a trained model instead of performing physical experiments.</a:t>
            </a:r>
          </a:p>
          <a:p>
            <a:r>
              <a:rPr lang="en-US" dirty="0"/>
              <a:t>There is an interesting property of these cell embeddings- mostly all the cells will cluster together and even if they don’t cluster </a:t>
            </a:r>
            <a:r>
              <a:rPr lang="en-US" dirty="0" err="1"/>
              <a:t>geneformer</a:t>
            </a:r>
            <a:r>
              <a:rPr lang="en-US" dirty="0"/>
              <a:t> provides the feature of supervised finetuning on classification task and separate them into different clusters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An important property of </a:t>
            </a:r>
            <a:r>
              <a:rPr lang="en-US" b="1" dirty="0"/>
              <a:t>cell embeddings</a:t>
            </a:r>
            <a:r>
              <a:rPr lang="en-US" dirty="0"/>
              <a:t> is that, in many cases, cells tend to cluster together in the embedding space. When such separation is not clearly observed, </a:t>
            </a:r>
            <a:r>
              <a:rPr lang="en-US" dirty="0" err="1"/>
              <a:t>Geneformer</a:t>
            </a:r>
            <a:r>
              <a:rPr lang="en-US" dirty="0"/>
              <a:t> provides the capability for </a:t>
            </a:r>
            <a:r>
              <a:rPr lang="en-US" b="1" dirty="0"/>
              <a:t>supervised fine-tuning on classification tasks</a:t>
            </a:r>
            <a:r>
              <a:rPr lang="en-US" dirty="0"/>
              <a:t>, which helps distinguish and separate different cellular states into distinct clusters.</a:t>
            </a:r>
          </a:p>
          <a:p>
            <a:r>
              <a:rPr lang="en-US" dirty="0"/>
              <a:t>The </a:t>
            </a:r>
            <a:r>
              <a:rPr lang="en-US" b="1" dirty="0"/>
              <a:t>UMAP visualization shown here</a:t>
            </a:r>
            <a:r>
              <a:rPr lang="en-US" dirty="0"/>
              <a:t> is based on an actual experiment conducted by three of us—myself, </a:t>
            </a:r>
            <a:r>
              <a:rPr lang="en-US" b="1" dirty="0"/>
              <a:t>Dr. Sana </a:t>
            </a:r>
            <a:r>
              <a:rPr lang="en-US" b="1" dirty="0" err="1"/>
              <a:t>Munquad</a:t>
            </a:r>
            <a:r>
              <a:rPr lang="en-US" dirty="0"/>
              <a:t>, and </a:t>
            </a:r>
            <a:r>
              <a:rPr lang="en-US" b="1" dirty="0"/>
              <a:t>Vani Padmakumar</a:t>
            </a:r>
            <a:r>
              <a:rPr lang="en-US" dirty="0"/>
              <a:t>—using </a:t>
            </a:r>
            <a:r>
              <a:rPr lang="en-US" b="1" dirty="0"/>
              <a:t>PC9 cell lines</a:t>
            </a:r>
            <a:r>
              <a:rPr lang="en-US" dirty="0"/>
              <a:t>. Vani and Dr. Sana curated and labeled the datasets to evaluate </a:t>
            </a:r>
            <a:r>
              <a:rPr lang="en-US" dirty="0" err="1"/>
              <a:t>Geneformer’s</a:t>
            </a:r>
            <a:r>
              <a:rPr lang="en-US" dirty="0"/>
              <a:t> </a:t>
            </a:r>
            <a:r>
              <a:rPr lang="en-US" b="1" dirty="0"/>
              <a:t>in-silico perturbation capability</a:t>
            </a:r>
            <a:r>
              <a:rPr lang="en-US" dirty="0"/>
              <a:t>. As shown, the resulting clusters are </a:t>
            </a:r>
            <a:r>
              <a:rPr lang="en-US" b="1" dirty="0"/>
              <a:t>reasonably well separated</a:t>
            </a:r>
            <a:r>
              <a:rPr lang="en-US" dirty="0"/>
              <a:t>, indicating meaningful distinctions between the cellular conditions.</a:t>
            </a:r>
          </a:p>
          <a:p>
            <a:br>
              <a:rPr lang="en-US" sz="1200" dirty="0"/>
            </a:br>
            <a:br>
              <a:rPr lang="en-IN" sz="1200" dirty="0"/>
            </a:br>
            <a:br>
              <a:rPr lang="en-IN" sz="1200" dirty="0"/>
            </a:br>
            <a:endParaRPr lang="en-IN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B3F91A-D73A-C408-0C9A-3D7AB581E63E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Insilico</a:t>
            </a:r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Perturbation in </a:t>
            </a:r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Geneformer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458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1FEE5C-D3BB-7E99-0F06-3D5849FAD2F8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1 Genes at a time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C5958A-A407-4552-B5CA-F3D0A78291F3}"/>
              </a:ext>
            </a:extLst>
          </p:cNvPr>
          <p:cNvSpPr txBox="1"/>
          <p:nvPr/>
        </p:nvSpPr>
        <p:spPr>
          <a:xfrm>
            <a:off x="201168" y="1152144"/>
            <a:ext cx="115026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slide shows visually </a:t>
            </a:r>
            <a:r>
              <a:rPr lang="en-IN" dirty="0" err="1"/>
              <a:t>Insilico</a:t>
            </a:r>
            <a:r>
              <a:rPr lang="en-IN" dirty="0"/>
              <a:t> Perturbation is happening in </a:t>
            </a:r>
            <a:r>
              <a:rPr lang="en-IN" dirty="0" err="1"/>
              <a:t>geneformer</a:t>
            </a:r>
            <a:r>
              <a:rPr lang="en-IN" dirty="0"/>
              <a:t>, assume you want to study the effect of deleting a gene like EGFR in PC9 DMSO cells </a:t>
            </a:r>
          </a:p>
          <a:p>
            <a:r>
              <a:rPr lang="en-IN" dirty="0"/>
              <a:t>All you need to do is remove the gene from rank value encodings and present it the decoder</a:t>
            </a:r>
          </a:p>
          <a:p>
            <a:r>
              <a:rPr lang="en-IN" dirty="0"/>
              <a:t>The output vector representation of the cell is changed from it original position and there are some experimental results its moved towards the PC9_OSI state</a:t>
            </a:r>
          </a:p>
          <a:p>
            <a:r>
              <a:rPr lang="en-IN" dirty="0" err="1"/>
              <a:t>Geneformer’s</a:t>
            </a:r>
            <a:r>
              <a:rPr lang="en-IN" dirty="0"/>
              <a:t> default code </a:t>
            </a:r>
            <a:r>
              <a:rPr lang="en-IN" dirty="0" err="1"/>
              <a:t>mesure</a:t>
            </a:r>
            <a:r>
              <a:rPr lang="en-IN" dirty="0"/>
              <a:t> this change using cosine similarity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And the perturbation capability is not only limited to Delete</a:t>
            </a:r>
          </a:p>
          <a:p>
            <a:r>
              <a:rPr lang="en-IN" dirty="0"/>
              <a:t>You can tune with any of these four – explain how it is changing in the rank value encoding</a:t>
            </a:r>
          </a:p>
        </p:txBody>
      </p:sp>
    </p:spTree>
    <p:extLst>
      <p:ext uri="{BB962C8B-B14F-4D97-AF65-F5344CB8AC3E}">
        <p14:creationId xmlns:p14="http://schemas.microsoft.com/office/powerpoint/2010/main" val="2339134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BCA98B-C876-52BC-4425-8B166E211D70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2 Genes at a time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59ECAB-6E02-6851-BC56-7F84CF86ECC6}"/>
              </a:ext>
            </a:extLst>
          </p:cNvPr>
          <p:cNvSpPr txBox="1"/>
          <p:nvPr/>
        </p:nvSpPr>
        <p:spPr>
          <a:xfrm>
            <a:off x="201168" y="1152144"/>
            <a:ext cx="11502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You can also more than one gene at a time and check the effects</a:t>
            </a:r>
            <a:br>
              <a:rPr lang="en-IN" dirty="0"/>
            </a:br>
            <a:r>
              <a:rPr lang="en-IN" dirty="0"/>
              <a:t>Here if you see you </a:t>
            </a:r>
          </a:p>
          <a:p>
            <a:endParaRPr lang="en-IN" dirty="0"/>
          </a:p>
          <a:p>
            <a:r>
              <a:rPr lang="en-IN" dirty="0"/>
              <a:t>One of the use case we are doing is Synthetic Lethality</a:t>
            </a:r>
          </a:p>
        </p:txBody>
      </p:sp>
    </p:spTree>
    <p:extLst>
      <p:ext uri="{BB962C8B-B14F-4D97-AF65-F5344CB8AC3E}">
        <p14:creationId xmlns:p14="http://schemas.microsoft.com/office/powerpoint/2010/main" val="3082696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6C2326-DD68-0A81-1BCC-51D08A7CF8C3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800" b="1" spc="-1" dirty="0">
                <a:solidFill>
                  <a:srgbClr val="000000"/>
                </a:solidFill>
              </a:rPr>
              <a:t>VCC AND PERTURBATION</a:t>
            </a:r>
            <a:endParaRPr lang="en-IN" sz="2800" spc="-1" dirty="0"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53B94-2B05-379A-C6D1-BD9E9B1E7E2C}"/>
              </a:ext>
            </a:extLst>
          </p:cNvPr>
          <p:cNvSpPr txBox="1"/>
          <p:nvPr/>
        </p:nvSpPr>
        <p:spPr>
          <a:xfrm>
            <a:off x="344680" y="886968"/>
            <a:ext cx="114053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Talking about VCC</a:t>
            </a:r>
          </a:p>
          <a:p>
            <a:r>
              <a:rPr lang="en-US" dirty="0"/>
              <a:t>It’s a </a:t>
            </a:r>
            <a:r>
              <a:rPr lang="en-US" b="1" dirty="0"/>
              <a:t>public benchmarking competition</a:t>
            </a:r>
            <a:r>
              <a:rPr lang="en-US" dirty="0"/>
              <a:t> where participants build models to </a:t>
            </a:r>
            <a:r>
              <a:rPr lang="en-US" b="1" dirty="0"/>
              <a:t>predict the effects of gene perturbations</a:t>
            </a:r>
            <a:r>
              <a:rPr lang="en-US" dirty="0"/>
              <a:t> on single-cell gene expression profiles. </a:t>
            </a:r>
          </a:p>
          <a:p>
            <a:r>
              <a:rPr lang="en-IN" dirty="0"/>
              <a:t>For the </a:t>
            </a:r>
            <a:r>
              <a:rPr lang="en-IN" b="1" dirty="0"/>
              <a:t>inaugural 2025 edition</a:t>
            </a:r>
            <a:r>
              <a:rPr lang="en-IN" dirty="0"/>
              <a:t>, participants were given:</a:t>
            </a:r>
          </a:p>
          <a:p>
            <a:r>
              <a:rPr lang="en-IN" b="1" dirty="0"/>
              <a:t>Training, validation, and test datasets</a:t>
            </a:r>
            <a:r>
              <a:rPr lang="en-IN" dirty="0"/>
              <a:t> derived from </a:t>
            </a:r>
            <a:r>
              <a:rPr lang="en-IN" b="1" dirty="0"/>
              <a:t>single-cell RNA sequencing (</a:t>
            </a:r>
            <a:r>
              <a:rPr lang="en-IN" b="1" dirty="0" err="1"/>
              <a:t>scRNA-seq</a:t>
            </a:r>
            <a:r>
              <a:rPr lang="en-IN" b="1" dirty="0"/>
              <a:t>)</a:t>
            </a:r>
            <a:r>
              <a:rPr lang="en-IN" dirty="0"/>
              <a:t> of ~300,000 human embryonic stem cells (H1 </a:t>
            </a:r>
            <a:r>
              <a:rPr lang="en-IN" dirty="0" err="1"/>
              <a:t>hESCs</a:t>
            </a:r>
            <a:r>
              <a:rPr lang="en-IN" dirty="0"/>
              <a:t>) with </a:t>
            </a:r>
            <a:r>
              <a:rPr lang="en-IN" b="1" dirty="0"/>
              <a:t>300 </a:t>
            </a:r>
            <a:r>
              <a:rPr lang="en-IN" b="1" dirty="0" err="1"/>
              <a:t>CRISPRi</a:t>
            </a:r>
            <a:r>
              <a:rPr lang="en-IN" b="1" dirty="0"/>
              <a:t> gene knockdowns</a:t>
            </a:r>
            <a:r>
              <a:rPr lang="en-IN" dirty="0"/>
              <a:t>. </a:t>
            </a:r>
          </a:p>
          <a:p>
            <a:r>
              <a:rPr lang="en-IN" dirty="0"/>
              <a:t>Models need to learn from provided data and then </a:t>
            </a:r>
            <a:r>
              <a:rPr lang="en-IN" b="1" dirty="0"/>
              <a:t>predict how cells’ gene expression changes</a:t>
            </a:r>
            <a:r>
              <a:rPr lang="en-IN" dirty="0"/>
              <a:t> when specific genes are silenced.</a:t>
            </a:r>
          </a:p>
          <a:p>
            <a:r>
              <a:rPr lang="en-IN" dirty="0"/>
              <a:t>The challenge tests </a:t>
            </a:r>
            <a:r>
              <a:rPr lang="en-IN" b="1" dirty="0"/>
              <a:t>generalization</a:t>
            </a:r>
            <a:r>
              <a:rPr lang="en-IN" dirty="0"/>
              <a:t>, meaning models must perform well on </a:t>
            </a:r>
            <a:r>
              <a:rPr lang="en-IN" b="1" dirty="0"/>
              <a:t>held-out perturbations or cell contexts not seen during training</a:t>
            </a:r>
            <a:r>
              <a:rPr lang="en-IN" dirty="0"/>
              <a:t>. </a:t>
            </a:r>
          </a:p>
          <a:p>
            <a:endParaRPr lang="en-IN" dirty="0"/>
          </a:p>
          <a:p>
            <a:r>
              <a:rPr lang="en-US" dirty="0"/>
              <a:t>In the </a:t>
            </a:r>
            <a:r>
              <a:rPr lang="en-US" b="1" dirty="0"/>
              <a:t>Virtual Cell Challenge</a:t>
            </a:r>
            <a:r>
              <a:rPr lang="en-US" dirty="0"/>
              <a:t>, the training data provided by the organizers consists of approximately </a:t>
            </a:r>
            <a:r>
              <a:rPr lang="en-US" b="1" dirty="0"/>
              <a:t>38,000 control cells</a:t>
            </a:r>
            <a:r>
              <a:rPr lang="en-US" dirty="0"/>
              <a:t>, along with a set of </a:t>
            </a:r>
            <a:r>
              <a:rPr lang="en-US" b="1" dirty="0"/>
              <a:t>100 genes</a:t>
            </a:r>
            <a:r>
              <a:rPr lang="en-US" dirty="0"/>
              <a:t> for which the transcriptomic outcomes of </a:t>
            </a:r>
            <a:r>
              <a:rPr lang="en-US" b="1" dirty="0"/>
              <a:t>single-gene perturbations</a:t>
            </a:r>
            <a:r>
              <a:rPr lang="en-US" dirty="0"/>
              <a:t> are known.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0982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1AF2D4-E968-D71A-CDBB-CD4C1EE39C8F}"/>
              </a:ext>
            </a:extLst>
          </p:cNvPr>
          <p:cNvSpPr txBox="1"/>
          <p:nvPr/>
        </p:nvSpPr>
        <p:spPr>
          <a:xfrm>
            <a:off x="285750" y="170379"/>
            <a:ext cx="116014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Lets assume you have for perturbation g1 </a:t>
            </a:r>
          </a:p>
          <a:p>
            <a:r>
              <a:rPr lang="en-US" dirty="0"/>
              <a:t>The model need to take 4000 cells from 38 K control cells knock g1 only from all those 4k cells need to match the ground truth for those 4000 cells </a:t>
            </a:r>
          </a:p>
          <a:p>
            <a:endParaRPr lang="en-US" dirty="0"/>
          </a:p>
          <a:p>
            <a:r>
              <a:rPr lang="en-US" dirty="0"/>
              <a:t>similarly for perturbation g2 The model need to take 3800 cells from 38 K control cells knock g2 only from all those 3800 cells need to match the ground truth for those 3800 cells </a:t>
            </a:r>
          </a:p>
          <a:p>
            <a:endParaRPr lang="en-US" dirty="0"/>
          </a:p>
          <a:p>
            <a:r>
              <a:rPr lang="en-US" dirty="0"/>
              <a:t>similarly for perturbation g100 The model need to take 15 cells from 38 K control cells knock g2 only from all those 15 cells need to match the ground truth for those 15 cells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Once the model learns these perturbation-specific patterns across the 100 genes, it becomes capable of </a:t>
            </a:r>
            <a:r>
              <a:rPr lang="en-US" b="1" dirty="0">
                <a:highlight>
                  <a:srgbClr val="C0C0C0"/>
                </a:highlight>
              </a:rPr>
              <a:t>predicting transcriptomic outcomes for previously unseen gene perturbations</a:t>
            </a:r>
            <a:r>
              <a:rPr lang="en-US" dirty="0">
                <a:highlight>
                  <a:srgbClr val="C0C0C0"/>
                </a:highlight>
              </a:rPr>
              <a:t>, starting from the same pool of control cells.</a:t>
            </a:r>
            <a:endParaRPr lang="en-IN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4831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F48B36-A647-2464-165F-4945BE285FF5}"/>
              </a:ext>
            </a:extLst>
          </p:cNvPr>
          <p:cNvSpPr txBox="1"/>
          <p:nvPr/>
        </p:nvSpPr>
        <p:spPr>
          <a:xfrm>
            <a:off x="344680" y="173343"/>
            <a:ext cx="1150264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Challenge of using </a:t>
            </a:r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Genformer</a:t>
            </a:r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in VCC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384200-0424-31E5-81C4-72315D5FF3A1}"/>
              </a:ext>
            </a:extLst>
          </p:cNvPr>
          <p:cNvSpPr txBox="1"/>
          <p:nvPr/>
        </p:nvSpPr>
        <p:spPr>
          <a:xfrm>
            <a:off x="457200" y="932688"/>
            <a:ext cx="10835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major challenge in using </a:t>
            </a:r>
            <a:r>
              <a:rPr lang="en-IN" dirty="0" err="1"/>
              <a:t>geneformer</a:t>
            </a:r>
            <a:r>
              <a:rPr lang="en-IN" dirty="0"/>
              <a:t> is the decoder, </a:t>
            </a:r>
            <a:r>
              <a:rPr lang="en-IN" dirty="0" err="1"/>
              <a:t>Geneformer’s</a:t>
            </a:r>
            <a:r>
              <a:rPr lang="en-IN" dirty="0"/>
              <a:t> tokenizer considers </a:t>
            </a:r>
          </a:p>
          <a:p>
            <a:endParaRPr lang="en-IN" dirty="0"/>
          </a:p>
          <a:p>
            <a:r>
              <a:rPr lang="en-IN" dirty="0"/>
              <a:t>only 4096 HVGs per cell but we need to predict 18080 genes</a:t>
            </a:r>
          </a:p>
          <a:p>
            <a:r>
              <a:rPr lang="en-IN" dirty="0"/>
              <a:t>Also the decoder returns back the rank not the expression values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3686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8B4B22-DEE9-D23A-A29A-66D37D534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015" y="1022933"/>
            <a:ext cx="3968363" cy="2406067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3A5779-F781-A8F1-3D22-DA5CCF841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9811"/>
            <a:ext cx="4238995" cy="4210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D5B099-6FBF-232B-B343-5703B2BAB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201" y="1022933"/>
            <a:ext cx="3459799" cy="141275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A824726-41CF-2556-8B85-CF240F4B2896}"/>
              </a:ext>
            </a:extLst>
          </p:cNvPr>
          <p:cNvSpPr txBox="1"/>
          <p:nvPr/>
        </p:nvSpPr>
        <p:spPr>
          <a:xfrm>
            <a:off x="4463015" y="3526459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“We compute MSE between predicted and true log-normalized gene expression values, averaged across all genes and cells.”</a:t>
            </a:r>
            <a:endParaRPr lang="en-IN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1F42BB-6A29-F324-FDE2-1C82D1F45B3D}"/>
              </a:ext>
            </a:extLst>
          </p:cNvPr>
          <p:cNvSpPr txBox="1"/>
          <p:nvPr/>
        </p:nvSpPr>
        <p:spPr>
          <a:xfrm>
            <a:off x="4463015" y="3930134"/>
            <a:ext cx="61036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“Why MSE after log normalization?”</a:t>
            </a:r>
          </a:p>
          <a:p>
            <a:endParaRPr lang="en-US" sz="1200" dirty="0"/>
          </a:p>
          <a:p>
            <a:r>
              <a:rPr lang="en-US" sz="1200" dirty="0"/>
              <a:t>“Log normalization stabilizes the variance of expression values, making MSE a suitable loss for continuous regression.”</a:t>
            </a:r>
            <a:endParaRPr lang="en-IN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A10744-73FF-47AB-08B0-CD6046A5CF86}"/>
              </a:ext>
            </a:extLst>
          </p:cNvPr>
          <p:cNvSpPr txBox="1"/>
          <p:nvPr/>
        </p:nvSpPr>
        <p:spPr>
          <a:xfrm>
            <a:off x="344680" y="173343"/>
            <a:ext cx="53252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</a:t>
            </a:r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VirtualCell</a:t>
            </a:r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Generator Architecture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456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3D8F40-5AF9-B78F-F1E5-84DF264D032C}"/>
              </a:ext>
            </a:extLst>
          </p:cNvPr>
          <p:cNvSpPr txBox="1"/>
          <p:nvPr/>
        </p:nvSpPr>
        <p:spPr>
          <a:xfrm>
            <a:off x="105217" y="1180290"/>
            <a:ext cx="60441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Model Architecture for Transcriptome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takes a </a:t>
            </a:r>
            <a:r>
              <a:rPr lang="en-US" b="1" dirty="0"/>
              <a:t>cell embedding of dimension 4,096</a:t>
            </a:r>
            <a:r>
              <a:rPr lang="en-US" dirty="0"/>
              <a:t> as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“Per-gene embeddings are projected to scalar representations to form a fixed-length cell vector, which is decoded using an MLP to predict genome-wide gene expression.”</a:t>
            </a:r>
          </a:p>
          <a:p>
            <a:r>
              <a:rPr lang="en-US" b="1" dirty="0"/>
              <a:t>Under input:</a:t>
            </a:r>
          </a:p>
          <a:p>
            <a:r>
              <a:rPr lang="en-US" i="1" dirty="0"/>
              <a:t>Missing genes use fixed padding embeddings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input is passed through a sequence of </a:t>
            </a:r>
            <a:r>
              <a:rPr lang="en-US" b="1" dirty="0"/>
              <a:t>fully connected layers</a:t>
            </a:r>
            <a:r>
              <a:rPr lang="en-US" dirty="0"/>
              <a:t>, each followed by </a:t>
            </a:r>
            <a:r>
              <a:rPr lang="en-US" b="1" dirty="0"/>
              <a:t>Layer Normalization</a:t>
            </a:r>
            <a:r>
              <a:rPr lang="en-US" dirty="0"/>
              <a:t> and </a:t>
            </a:r>
            <a:r>
              <a:rPr lang="en-US" b="1" dirty="0"/>
              <a:t>GELU activation</a:t>
            </a:r>
            <a:r>
              <a:rPr lang="en-US" dirty="0"/>
              <a:t>.</a:t>
            </a:r>
          </a:p>
          <a:p>
            <a:r>
              <a:rPr lang="en-US" b="1" dirty="0"/>
              <a:t>Under output:</a:t>
            </a:r>
          </a:p>
          <a:p>
            <a:r>
              <a:rPr lang="en-US" i="1" dirty="0"/>
              <a:t>Targets are log1p-normalized expression values</a:t>
            </a:r>
          </a:p>
          <a:p>
            <a:r>
              <a:rPr lang="en-US" dirty="0"/>
              <a:t>The final </a:t>
            </a:r>
            <a:r>
              <a:rPr lang="en-US" b="1" dirty="0"/>
              <a:t>output layer maps the learned representation to 18,080 genes</a:t>
            </a:r>
            <a:r>
              <a:rPr lang="en-US" dirty="0"/>
              <a:t>, corresponding to the predicted transcriptomic profile of the perturbed cell.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5B5363-4373-A41F-7A2E-FBD57CAFE378}"/>
              </a:ext>
            </a:extLst>
          </p:cNvPr>
          <p:cNvSpPr/>
          <p:nvPr/>
        </p:nvSpPr>
        <p:spPr>
          <a:xfrm>
            <a:off x="6096000" y="208803"/>
            <a:ext cx="5990783" cy="5874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45B8D3-5B65-89F3-71D5-E5C93B1AE637}"/>
              </a:ext>
            </a:extLst>
          </p:cNvPr>
          <p:cNvSpPr/>
          <p:nvPr/>
        </p:nvSpPr>
        <p:spPr>
          <a:xfrm>
            <a:off x="6991538" y="909771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Cell Vector (18,080)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FF2A4-F165-04AE-943E-747ABE964296}"/>
              </a:ext>
            </a:extLst>
          </p:cNvPr>
          <p:cNvSpPr/>
          <p:nvPr/>
        </p:nvSpPr>
        <p:spPr>
          <a:xfrm>
            <a:off x="6991537" y="1578038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(8192)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757E5-0BB4-0A72-C12D-62C9AC46A3BB}"/>
              </a:ext>
            </a:extLst>
          </p:cNvPr>
          <p:cNvSpPr/>
          <p:nvPr/>
        </p:nvSpPr>
        <p:spPr>
          <a:xfrm>
            <a:off x="6991536" y="2254911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(4096)</a:t>
            </a:r>
            <a:endParaRPr lang="en-IN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AEB0AD-4BFA-FEE2-8329-5A6F0415B37D}"/>
              </a:ext>
            </a:extLst>
          </p:cNvPr>
          <p:cNvSpPr/>
          <p:nvPr/>
        </p:nvSpPr>
        <p:spPr>
          <a:xfrm>
            <a:off x="6994247" y="2914089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solidFill>
                <a:schemeClr val="tx1"/>
              </a:solidFill>
            </a:endParaRPr>
          </a:p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(2048)</a:t>
            </a:r>
            <a:endParaRPr lang="en-IN" sz="1000" dirty="0"/>
          </a:p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638A41-4089-2936-FAC4-C516A09EB438}"/>
              </a:ext>
            </a:extLst>
          </p:cNvPr>
          <p:cNvSpPr/>
          <p:nvPr/>
        </p:nvSpPr>
        <p:spPr>
          <a:xfrm>
            <a:off x="6991535" y="3628859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(4096)</a:t>
            </a:r>
            <a:endParaRPr lang="en-IN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0D0504-AC54-1851-B804-60E94AC5D251}"/>
              </a:ext>
            </a:extLst>
          </p:cNvPr>
          <p:cNvSpPr/>
          <p:nvPr/>
        </p:nvSpPr>
        <p:spPr>
          <a:xfrm>
            <a:off x="6991534" y="4281859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(8192)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D82274-FDE4-8FE6-AEDB-194FEBCC0C33}"/>
              </a:ext>
            </a:extLst>
          </p:cNvPr>
          <p:cNvSpPr/>
          <p:nvPr/>
        </p:nvSpPr>
        <p:spPr>
          <a:xfrm>
            <a:off x="6991534" y="4950126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Cell Vector (18,080)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385AE6-1B06-0E35-6C27-B2962CC8EC5D}"/>
              </a:ext>
            </a:extLst>
          </p:cNvPr>
          <p:cNvSpPr txBox="1"/>
          <p:nvPr/>
        </p:nvSpPr>
        <p:spPr>
          <a:xfrm>
            <a:off x="344680" y="173343"/>
            <a:ext cx="53252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</a:t>
            </a:r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VirtualCell</a:t>
            </a:r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Generator Architecture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606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D5CAF1-5319-AD78-85CD-ACC65CAB9F5B}"/>
              </a:ext>
            </a:extLst>
          </p:cNvPr>
          <p:cNvSpPr txBox="1"/>
          <p:nvPr/>
        </p:nvSpPr>
        <p:spPr>
          <a:xfrm>
            <a:off x="166878" y="162342"/>
            <a:ext cx="6352794" cy="317009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GELU?</a:t>
            </a:r>
          </a:p>
          <a:p>
            <a:pPr>
              <a:buNone/>
            </a:pPr>
            <a:r>
              <a:rPr lang="en-US" sz="1400" b="1" dirty="0"/>
              <a:t>Intuition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Gene embeddings and expression relationships are </a:t>
            </a:r>
            <a:r>
              <a:rPr lang="en-US" sz="1400" b="1" dirty="0"/>
              <a:t>smooth, continuous</a:t>
            </a:r>
            <a:r>
              <a:rPr lang="en-US" sz="1400" dirty="0"/>
              <a:t>, not binary.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ReLU</a:t>
            </a:r>
            <a:r>
              <a:rPr lang="en-US" sz="1400" dirty="0"/>
              <a:t> makes </a:t>
            </a:r>
            <a:r>
              <a:rPr lang="en-US" sz="1400" b="1" dirty="0"/>
              <a:t>hard cutoffs</a:t>
            </a:r>
            <a:r>
              <a:rPr lang="en-US" sz="1400" dirty="0"/>
              <a:t> (zeroing negatives).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GELU softly gates</a:t>
            </a:r>
            <a:r>
              <a:rPr lang="en-US" sz="1400" dirty="0"/>
              <a:t> values instead of hard-thresholding them.</a:t>
            </a:r>
          </a:p>
          <a:p>
            <a:pPr>
              <a:buNone/>
            </a:pPr>
            <a:r>
              <a:rPr lang="en-US" sz="1400" dirty="0"/>
              <a:t>Mathematically, GELU: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Weighs inputs by their probability under a Gaussian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Keeps small negative signals instead of killing them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  <a:p>
            <a:pPr>
              <a:buNone/>
            </a:pPr>
            <a:r>
              <a:rPr lang="en-US" sz="1400" b="1" dirty="0"/>
              <a:t>Why GELU is good here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Embeddings are roughly </a:t>
            </a:r>
            <a:r>
              <a:rPr lang="en-US" sz="1400" b="1" dirty="0"/>
              <a:t>zero-centered and Gaussian-like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Subtle changes in embeddings matter for expression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GELU preserves weak but biologically meaningful signals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6BCF61-ECC7-2845-8271-EA30C90E1434}"/>
              </a:ext>
            </a:extLst>
          </p:cNvPr>
          <p:cNvSpPr txBox="1"/>
          <p:nvPr/>
        </p:nvSpPr>
        <p:spPr>
          <a:xfrm>
            <a:off x="6823710" y="105013"/>
            <a:ext cx="4990338" cy="332398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Why Layer Normalization (LN)?</a:t>
            </a:r>
          </a:p>
          <a:p>
            <a:pPr>
              <a:buNone/>
            </a:pPr>
            <a:r>
              <a:rPr lang="en-US" sz="1400" b="1" dirty="0"/>
              <a:t>Intuition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Each cell has </a:t>
            </a:r>
            <a:r>
              <a:rPr lang="en-US" sz="1400" b="1" dirty="0"/>
              <a:t>very different expression magnitudes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Without normalization, deeper layers: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explode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or collapse</a:t>
            </a:r>
          </a:p>
          <a:p>
            <a:pPr>
              <a:buNone/>
            </a:pPr>
            <a:r>
              <a:rPr lang="en-US" sz="1400" dirty="0" err="1"/>
              <a:t>LayerNorm</a:t>
            </a:r>
            <a:r>
              <a:rPr lang="en-US" sz="1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Normalizes activations </a:t>
            </a:r>
            <a:r>
              <a:rPr lang="en-US" sz="1400" b="1" dirty="0"/>
              <a:t>within each cell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Independent of batch size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  <a:p>
            <a:pPr>
              <a:buNone/>
            </a:pPr>
            <a:r>
              <a:rPr lang="en-US" sz="1400" b="1" dirty="0"/>
              <a:t>Why LN is important here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scRNA</a:t>
            </a:r>
            <a:r>
              <a:rPr lang="en-US" sz="1400" dirty="0"/>
              <a:t>-seq batch sizes can be small or variable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Expression distributions vary across cells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LN stabilizes training across layers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EC08D-7A8E-4929-04D9-1B8286CB70C2}"/>
              </a:ext>
            </a:extLst>
          </p:cNvPr>
          <p:cNvSpPr txBox="1"/>
          <p:nvPr/>
        </p:nvSpPr>
        <p:spPr>
          <a:xfrm>
            <a:off x="166878" y="3525560"/>
            <a:ext cx="6565392" cy="2585323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GELU + </a:t>
            </a:r>
            <a:r>
              <a:rPr lang="en-US" b="1" dirty="0" err="1"/>
              <a:t>LayerNorm</a:t>
            </a:r>
            <a:r>
              <a:rPr lang="en-US" b="1" dirty="0"/>
              <a:t> together?</a:t>
            </a:r>
          </a:p>
          <a:p>
            <a:pPr>
              <a:buNone/>
            </a:pPr>
            <a:r>
              <a:rPr lang="en-US" dirty="0"/>
              <a:t>This combo is </a:t>
            </a:r>
            <a:r>
              <a:rPr lang="en-US" b="1" dirty="0"/>
              <a:t>not accidental</a:t>
            </a:r>
            <a:r>
              <a:rPr lang="en-US" dirty="0"/>
              <a:t> — it’s standard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Geneformer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Modern foundation models</a:t>
            </a:r>
          </a:p>
          <a:p>
            <a:pPr>
              <a:buNone/>
            </a:pPr>
            <a:r>
              <a:rPr lang="en-US" dirty="0"/>
              <a:t>Together they give: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Stable gradients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Smooth nonlinear modeling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convergence</a:t>
            </a:r>
          </a:p>
        </p:txBody>
      </p:sp>
    </p:spTree>
    <p:extLst>
      <p:ext uri="{BB962C8B-B14F-4D97-AF65-F5344CB8AC3E}">
        <p14:creationId xmlns:p14="http://schemas.microsoft.com/office/powerpoint/2010/main" val="3745247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38A1D-B0D0-543F-FFB2-CC27911A89D3}"/>
              </a:ext>
            </a:extLst>
          </p:cNvPr>
          <p:cNvSpPr txBox="1"/>
          <p:nvPr/>
        </p:nvSpPr>
        <p:spPr>
          <a:xfrm>
            <a:off x="105217" y="1054470"/>
            <a:ext cx="60944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Slide: Model Architecture</a:t>
            </a:r>
            <a:endParaRPr lang="en-US" dirty="0"/>
          </a:p>
          <a:p>
            <a:pPr>
              <a:buNone/>
            </a:pPr>
            <a:r>
              <a:rPr lang="en-US" sz="1400" dirty="0"/>
              <a:t>This slide illustrates the neural network architecture used for transcriptome reconstruction and perturbation prediction.</a:t>
            </a:r>
          </a:p>
          <a:p>
            <a:pPr>
              <a:buNone/>
            </a:pPr>
            <a:r>
              <a:rPr lang="en-US" sz="1400" dirty="0"/>
              <a:t>The model takes as input a </a:t>
            </a:r>
            <a:r>
              <a:rPr lang="en-US" sz="1400" b="1" dirty="0"/>
              <a:t>cell vector of dimension 18,080</a:t>
            </a:r>
            <a:r>
              <a:rPr lang="en-US" sz="1400" dirty="0"/>
              <a:t>, derived from gene embeddings.</a:t>
            </a:r>
            <a:br>
              <a:rPr lang="en-US" sz="1400" dirty="0"/>
            </a:br>
            <a:r>
              <a:rPr lang="en-US" sz="1400" dirty="0"/>
              <a:t>This input is passed through multiple </a:t>
            </a:r>
            <a:r>
              <a:rPr lang="en-US" sz="1400" b="1" dirty="0"/>
              <a:t>fully connected layers</a:t>
            </a:r>
            <a:r>
              <a:rPr lang="en-US" sz="1400" dirty="0"/>
              <a:t>, each followed by </a:t>
            </a:r>
            <a:r>
              <a:rPr lang="en-US" sz="1400" b="1" dirty="0"/>
              <a:t>Layer Normalization</a:t>
            </a:r>
            <a:r>
              <a:rPr lang="en-US" sz="1400" dirty="0"/>
              <a:t> and </a:t>
            </a:r>
            <a:r>
              <a:rPr lang="en-US" sz="1400" b="1" dirty="0"/>
              <a:t>GELU activation</a:t>
            </a:r>
            <a:r>
              <a:rPr lang="en-US" sz="1400" dirty="0"/>
              <a:t>, to ensure stable training and non-linear feature transformation.</a:t>
            </a:r>
          </a:p>
          <a:p>
            <a:pPr>
              <a:buNone/>
            </a:pPr>
            <a:r>
              <a:rPr lang="en-US" sz="1400" dirty="0"/>
              <a:t>The network progressively </a:t>
            </a:r>
            <a:r>
              <a:rPr lang="en-US" sz="1400" b="1" dirty="0"/>
              <a:t>compresses the representation</a:t>
            </a:r>
            <a:r>
              <a:rPr lang="en-US" sz="1400" dirty="0"/>
              <a:t> down to a </a:t>
            </a:r>
            <a:r>
              <a:rPr lang="en-US" sz="1400" b="1" dirty="0"/>
              <a:t>2,048-dimensional bottleneck</a:t>
            </a:r>
            <a:r>
              <a:rPr lang="en-US" sz="1400" dirty="0"/>
              <a:t>, which captures the most informative and biologically relevant features of the cell state.</a:t>
            </a:r>
            <a:br>
              <a:rPr lang="en-US" sz="1400" dirty="0"/>
            </a:br>
            <a:r>
              <a:rPr lang="en-US" sz="1400" dirty="0"/>
              <a:t>Subsequently, the representation is </a:t>
            </a:r>
            <a:r>
              <a:rPr lang="en-US" sz="1400" b="1" dirty="0"/>
              <a:t>expanded symmetrically</a:t>
            </a:r>
            <a:r>
              <a:rPr lang="en-US" sz="1400" dirty="0"/>
              <a:t> to recover higher-dimensional structure.</a:t>
            </a:r>
          </a:p>
          <a:p>
            <a:pPr>
              <a:buNone/>
            </a:pPr>
            <a:r>
              <a:rPr lang="en-US" sz="1400" dirty="0"/>
              <a:t>Finally, a </a:t>
            </a:r>
            <a:r>
              <a:rPr lang="en-US" sz="1400" b="1" dirty="0"/>
              <a:t>linear output layer</a:t>
            </a:r>
            <a:r>
              <a:rPr lang="en-US" sz="1400" dirty="0"/>
              <a:t> predicts </a:t>
            </a:r>
            <a:r>
              <a:rPr lang="en-US" sz="1400" b="1" dirty="0"/>
              <a:t>18,080 gene expression values</a:t>
            </a:r>
            <a:r>
              <a:rPr lang="en-US" sz="1400" dirty="0"/>
              <a:t>, corresponding to the reconstructed or perturbed transcriptomic profile.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dirty="0"/>
              <a:t>“GELU provides smooth non-linearity, which better preserves fine-grained information in gene embeddings compared to hard-threshold activations like </a:t>
            </a:r>
            <a:r>
              <a:rPr lang="en-US" sz="1400" dirty="0" err="1"/>
              <a:t>ReLU</a:t>
            </a:r>
            <a:r>
              <a:rPr lang="en-US" sz="1400" dirty="0"/>
              <a:t>.”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E28CF3-0257-574D-07A6-C64F60E0AB2F}"/>
              </a:ext>
            </a:extLst>
          </p:cNvPr>
          <p:cNvSpPr/>
          <p:nvPr/>
        </p:nvSpPr>
        <p:spPr>
          <a:xfrm>
            <a:off x="6096000" y="208803"/>
            <a:ext cx="5990783" cy="58744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7DACD5-17D6-8EF4-D77C-B64525808A60}"/>
              </a:ext>
            </a:extLst>
          </p:cNvPr>
          <p:cNvSpPr/>
          <p:nvPr/>
        </p:nvSpPr>
        <p:spPr>
          <a:xfrm>
            <a:off x="6991538" y="909771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Cell Vector (18,080)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0B1F37-D63B-12AF-49AB-B199B3A35D35}"/>
              </a:ext>
            </a:extLst>
          </p:cNvPr>
          <p:cNvSpPr/>
          <p:nvPr/>
        </p:nvSpPr>
        <p:spPr>
          <a:xfrm>
            <a:off x="6991537" y="1578038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(8192)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93142A-2061-DB5A-B67B-FE13F776D8E3}"/>
              </a:ext>
            </a:extLst>
          </p:cNvPr>
          <p:cNvSpPr/>
          <p:nvPr/>
        </p:nvSpPr>
        <p:spPr>
          <a:xfrm>
            <a:off x="6991536" y="2254911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(4096)</a:t>
            </a:r>
            <a:endParaRPr lang="en-IN" sz="1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EBDB38-E710-4810-4F1B-0604C3AB9B3B}"/>
              </a:ext>
            </a:extLst>
          </p:cNvPr>
          <p:cNvSpPr/>
          <p:nvPr/>
        </p:nvSpPr>
        <p:spPr>
          <a:xfrm>
            <a:off x="6994247" y="2914089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000" dirty="0">
              <a:solidFill>
                <a:schemeClr val="tx1"/>
              </a:solidFill>
            </a:endParaRPr>
          </a:p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(2048)</a:t>
            </a:r>
            <a:endParaRPr lang="en-IN" sz="1000" dirty="0"/>
          </a:p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033411-A71A-5F0B-222B-BEAE718EC9AB}"/>
              </a:ext>
            </a:extLst>
          </p:cNvPr>
          <p:cNvSpPr/>
          <p:nvPr/>
        </p:nvSpPr>
        <p:spPr>
          <a:xfrm>
            <a:off x="6991535" y="3628859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(4096)</a:t>
            </a:r>
            <a:endParaRPr lang="en-IN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E2E057-24A7-9B5B-AD49-EECE44CDACE0}"/>
              </a:ext>
            </a:extLst>
          </p:cNvPr>
          <p:cNvSpPr/>
          <p:nvPr/>
        </p:nvSpPr>
        <p:spPr>
          <a:xfrm>
            <a:off x="6991534" y="4281859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>
                <a:solidFill>
                  <a:schemeClr val="tx1"/>
                </a:solidFill>
              </a:rPr>
              <a:t>Dense + LN + GELU (8192)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1CA498-DB74-674F-3B90-D46A714C758F}"/>
              </a:ext>
            </a:extLst>
          </p:cNvPr>
          <p:cNvSpPr/>
          <p:nvPr/>
        </p:nvSpPr>
        <p:spPr>
          <a:xfrm>
            <a:off x="6991534" y="4950126"/>
            <a:ext cx="1677667" cy="54103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chemeClr val="tx1"/>
                </a:solidFill>
              </a:rPr>
              <a:t>Cell Vector (18,080)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CE5F2-C00B-D77E-0476-70EF4C78D9A3}"/>
              </a:ext>
            </a:extLst>
          </p:cNvPr>
          <p:cNvSpPr txBox="1"/>
          <p:nvPr/>
        </p:nvSpPr>
        <p:spPr>
          <a:xfrm>
            <a:off x="344680" y="173343"/>
            <a:ext cx="5325251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</a:t>
            </a:r>
            <a:r>
              <a:rPr lang="en-US" sz="2800" b="1" spc="-150" dirty="0" err="1">
                <a:solidFill>
                  <a:srgbClr val="033E39"/>
                </a:solidFill>
                <a:latin typeface="Aptos"/>
              </a:rPr>
              <a:t>VirtualCell</a:t>
            </a:r>
            <a:r>
              <a:rPr lang="en-US" sz="2800" b="1" spc="-150" dirty="0">
                <a:solidFill>
                  <a:srgbClr val="033E39"/>
                </a:solidFill>
                <a:latin typeface="Aptos"/>
              </a:rPr>
              <a:t> Generator Architecture</a:t>
            </a:r>
            <a:endParaRPr lang="en-US" sz="2800" b="1" spc="-150" dirty="0">
              <a:solidFill>
                <a:srgbClr val="033E39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2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1678</Words>
  <Application>Microsoft Office PowerPoint</Application>
  <PresentationFormat>Widescreen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Vasudev R</dc:creator>
  <cp:lastModifiedBy>Vasudev R</cp:lastModifiedBy>
  <cp:revision>2</cp:revision>
  <dcterms:created xsi:type="dcterms:W3CDTF">2025-12-17T19:54:32Z</dcterms:created>
  <dcterms:modified xsi:type="dcterms:W3CDTF">2025-12-18T02:36:23Z</dcterms:modified>
</cp:coreProperties>
</file>