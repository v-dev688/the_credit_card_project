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76" r:id="rId5"/>
    <p:sldId id="286" r:id="rId6"/>
    <p:sldId id="277" r:id="rId7"/>
    <p:sldId id="288" r:id="rId8"/>
    <p:sldId id="289" r:id="rId9"/>
    <p:sldId id="280" r:id="rId10"/>
    <p:sldId id="282" r:id="rId11"/>
    <p:sldId id="3692" r:id="rId12"/>
    <p:sldId id="3693" r:id="rId13"/>
    <p:sldId id="281" r:id="rId14"/>
    <p:sldId id="283" r:id="rId15"/>
    <p:sldId id="36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275"/>
    <a:srgbClr val="566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34366-4EC8-43B5-95E9-435AF637CD0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5F695-1777-43A7-B491-4060A99A2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5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2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0630-85F6-33C8-BFC8-00176117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A0311-50FE-5057-320E-FE2CC1C55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1EC5C-9254-333E-1DFA-9BDB64DA2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8EC02-5F38-4C03-968F-D9BCFC328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5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7A99-43F5-F6AE-08C0-E7DD07FB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292A5-721E-E3BA-0989-4F3EDAA55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E5FDF-2593-75E6-0366-CC1899479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8E2C7-6E7D-33AF-CB53-B9F6D31AB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20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FF17-B6CD-5DD7-32E6-9D5B57C8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D615B-1D14-20FB-44A6-1D9A2855F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BA222-D19E-ED24-D643-36172245E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76B1-3042-2AB4-15A3-CA77C6FEA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4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7991-C40F-C298-BC19-6FF0CFD7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AE0B5-F833-A8C4-EF83-9A17D94E9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333FC-D4D0-CE00-8E70-453FF944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FF2D-5DDF-7A12-2F4B-EE5DC5EA8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36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BFF4-C7FB-1E72-3F6F-5F587381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C179-3F36-59A6-C9DD-2D40B3D19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38ADF-E11E-A308-2889-2E9F1C1E1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026ED-69F5-A81B-F59E-F09E22B3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43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8DEA-E120-41EE-95D6-AFB7F41C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29F99-7316-86AF-0437-B99C9E78F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DAABB-D69E-D5E0-966D-35FE67CC2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D61C5-9895-2E42-EDCD-9CC904D47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00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74C5-D4F5-633D-715E-BDE1523E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937B1-4D24-C431-11DE-FEF0792A9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E7491-2D1C-20BB-EC19-67F07C5A7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5CE95-9DC2-64E8-CCE0-367966D0F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14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59E1-2D9A-0095-168D-6ADC2A89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0FDD8-37C2-DDA7-1376-994860984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65742-EB47-5B5B-164A-92D600F94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DB60C-B87D-D585-9186-723BD8775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81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35A51-240C-47BA-99B0-B2207FF76F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115A-6090-87B6-1CDB-1E2074A4D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724FA-9CA0-DFBD-947F-F77371DC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F961-099E-7C3D-3BBF-E3A320FB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83965-4797-271E-6B80-A126E5EF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CED60-D440-2B46-DDFD-B9A13739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E3DF-F611-797A-49A1-76DC6DF0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AE94-0CAD-9608-127A-5F58A3453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F8F6-1281-2455-867B-2AA9F6AD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EF23D-D446-BFD1-62BF-FC6ECAA9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2A70-CCA1-26D8-AF6B-86AB2AD1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39D4-D7E4-4DFD-F799-0A1922D2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2CCD4-C1FB-947D-50D0-BDB15EC9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E12F-092B-3C38-54FC-216C29C1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3DF67-278C-5088-DA73-3B59AF79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012E-0FD3-02C3-E901-04CF1F10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1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6D6-BF32-5507-EF34-85A2B312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7CCE-2205-40FB-6C07-74D1CA6EC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D55A-8E17-04D4-08EA-38245F49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30AFC-A1D6-9719-1202-E91C713B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41234-E2A4-A355-335B-5DF3F45A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8415-FEE8-EFED-7515-EC99537A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7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06DF-D829-DDFB-9F2B-EA6EB752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CFC4C-2AB5-E2EA-1617-BBF089FF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F69FA-6FFA-949C-F8A9-E6A15A69F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A05B3-8028-7388-E7C8-CDE6AC0C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6CCB5-642D-F89C-A142-B34DBB15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9E8A9-30E7-FE5E-89F4-3B5D947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ADFA5-5B38-0649-451C-07B55407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45D79-5E8C-4912-172C-153D67B5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1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B7CF-7709-F6E3-8617-F4EA795B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DB7F-F41E-64A3-4055-E393BCB8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B7EF0-6D2B-ABC8-EDA0-02E05A1A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B001-20D8-4A80-D99E-A3BA981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57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E87A6-9A6A-3AE2-90B1-6F3BD94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966DF-0EAB-DA74-C2EC-8D2C178F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2892A-8251-77B1-E907-76C3FEFB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4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0969-E081-9AFB-C360-E0E187D1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DF28-4248-54E7-0ABB-D3D6B7CA7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A561A-657B-ABDE-C664-49D21CFE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20E6E-81A7-5A9C-B879-6F06A212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EC4BF-0953-DB51-F929-16DF5D99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15EE3-0136-B989-04FB-6841B6E6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73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8328-02BE-5DAD-6815-7E7E1645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98B07-8627-CFD3-3241-E9E20109F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DD1-4B86-C170-8C4E-F547E8A58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56A0-CC19-103B-4539-402880FC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1CA1F-18A9-9A55-12CB-FC3E9360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6FE9-BAC2-17F0-411C-5C7D7FD8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9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C9F9-96DB-10D4-2C38-665A00B0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1CC3-0218-B334-A861-A621006D8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A5E8-06E7-7568-BA1C-AF5FF903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298B-2DDF-CCF9-DE77-9ADFAC8F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7C38-4CD4-C170-78AC-83C3ECAA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5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3A50D-6BA8-2243-AC65-A80D98B9D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08DC2-862C-C5B3-9838-9715168F2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DD3F-4CEF-AAC9-EB30-8F546DF2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0452-8445-7F71-0521-C6BA4603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4A85-38A2-9F6C-2AF5-00A17F83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10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D44906-3EBD-9E31-E3E3-EE39065E14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35485"/>
            <a:ext cx="12192001" cy="522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12D6B6-5498-DDF8-9930-370510CC31E3}"/>
              </a:ext>
            </a:extLst>
          </p:cNvPr>
          <p:cNvSpPr txBox="1"/>
          <p:nvPr userDrawn="1"/>
        </p:nvSpPr>
        <p:spPr>
          <a:xfrm>
            <a:off x="10858561" y="6461809"/>
            <a:ext cx="124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chemeClr val="bg1"/>
                </a:solidFill>
              </a:rPr>
              <a:t>www.thinkbio.ai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FFDEEBC-1C0E-5900-6F2D-AADD3A56D1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474" y="697255"/>
            <a:ext cx="2719526" cy="541022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2117F13-E943-C9FF-F5A6-CA313B69E9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444" y="6438153"/>
            <a:ext cx="1251305" cy="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6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840F-0350-884C-0D34-D64245A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5CF59-BE64-E476-5074-E70D1072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6F74-02D0-AD36-F82F-25B88CA38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29D8-8836-48B4-C224-B05A7B4D3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8A06-8AE9-E92A-5EED-2CF0A243A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7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molecule&#10;&#10;Description automatically generated">
            <a:extLst>
              <a:ext uri="{FF2B5EF4-FFF2-40B4-BE49-F238E27FC236}">
                <a16:creationId xmlns:a16="http://schemas.microsoft.com/office/drawing/2014/main" id="{1A3BDC64-D12B-3935-109F-E93B5D78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037A32-ED36-CBD7-4022-25E3E1867931}"/>
              </a:ext>
            </a:extLst>
          </p:cNvPr>
          <p:cNvSpPr txBox="1"/>
          <p:nvPr/>
        </p:nvSpPr>
        <p:spPr>
          <a:xfrm>
            <a:off x="1028928" y="2547377"/>
            <a:ext cx="6554624" cy="10356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4000" b="1" dirty="0">
                <a:solidFill>
                  <a:schemeClr val="bg1"/>
                </a:solidFill>
                <a:ea typeface="Calibri Light"/>
                <a:cs typeface="Calibri Light"/>
              </a:rPr>
              <a:t>Single Cell Perturbation Analysis With Geneformer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708CB2-77F4-8A7B-0211-043B4FB7A633}"/>
              </a:ext>
            </a:extLst>
          </p:cNvPr>
          <p:cNvSpPr txBox="1"/>
          <p:nvPr/>
        </p:nvSpPr>
        <p:spPr>
          <a:xfrm rot="16200000">
            <a:off x="-536271" y="5674409"/>
            <a:ext cx="1770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>
                <a:solidFill>
                  <a:schemeClr val="bg2">
                    <a:lumMod val="50000"/>
                  </a:schemeClr>
                </a:solidFill>
                <a:effectLst/>
              </a:rPr>
              <a:t>© ThinkBio.Ai All Right Reserved</a:t>
            </a:r>
            <a:endParaRPr lang="en-US" sz="90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6D468D-B5B9-C113-475A-687F2C98DCF9}"/>
              </a:ext>
            </a:extLst>
          </p:cNvPr>
          <p:cNvCxnSpPr>
            <a:cxnSpLocks/>
          </p:cNvCxnSpPr>
          <p:nvPr/>
        </p:nvCxnSpPr>
        <p:spPr>
          <a:xfrm>
            <a:off x="1142465" y="2361153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1">
            <a:extLst>
              <a:ext uri="{FF2B5EF4-FFF2-40B4-BE49-F238E27FC236}">
                <a16:creationId xmlns:a16="http://schemas.microsoft.com/office/drawing/2014/main" id="{0683B870-3919-84BD-4C2A-8D102528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96329" y="2913576"/>
            <a:ext cx="2826626" cy="6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6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E986-199F-443F-7561-0A6765FE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7E76B7-0C58-145C-3AB2-64734E24244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 panose="020B0004020202020204" pitchFamily="34" charset="0"/>
              </a:rPr>
              <a:t>Agenda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9450DD-74BF-E745-E9D1-3F73EB32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88" y="905582"/>
            <a:ext cx="7351366" cy="3262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44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ts val="11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ts val="8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ts val="5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i="1" dirty="0">
                <a:cs typeface="Calibri"/>
              </a:rPr>
              <a:t>Gene Embeddings and </a:t>
            </a:r>
            <a:r>
              <a:rPr lang="en-US" sz="2000" b="1" i="1" dirty="0" err="1">
                <a:cs typeface="Calibri"/>
              </a:rPr>
              <a:t>Insilico</a:t>
            </a:r>
            <a:r>
              <a:rPr lang="en-US" sz="2000" b="1" i="1" dirty="0">
                <a:cs typeface="Calibri"/>
              </a:rPr>
              <a:t> Perturbation</a:t>
            </a:r>
            <a:endParaRPr lang="en-US" sz="2000" b="1" i="1" dirty="0"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i="1" dirty="0" err="1">
                <a:cs typeface="Calibri"/>
              </a:rPr>
              <a:t>Insilico</a:t>
            </a:r>
            <a:r>
              <a:rPr lang="en-US" sz="2000" i="1" dirty="0">
                <a:cs typeface="Calibri"/>
              </a:rPr>
              <a:t> Perturbation</a:t>
            </a:r>
            <a:r>
              <a:rPr lang="en-US" sz="2000" b="1" i="1" dirty="0">
                <a:cs typeface="Calibri"/>
              </a:rPr>
              <a:t> </a:t>
            </a:r>
            <a:r>
              <a:rPr lang="en-US" sz="2000" i="1" dirty="0">
                <a:cs typeface="Calibri"/>
              </a:rPr>
              <a:t>and</a:t>
            </a:r>
            <a:r>
              <a:rPr lang="en-US" sz="2000" b="1" i="1" dirty="0">
                <a:cs typeface="Calibri"/>
              </a:rPr>
              <a:t> VCC</a:t>
            </a:r>
            <a:endParaRPr lang="en-US" sz="2000" b="1" i="1" dirty="0"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i="1" dirty="0">
                <a:cs typeface="Calibri"/>
              </a:rPr>
              <a:t>VCC  with</a:t>
            </a:r>
            <a:r>
              <a:rPr lang="en-US" sz="2000" b="1" i="1" dirty="0">
                <a:cs typeface="Calibri"/>
              </a:rPr>
              <a:t> </a:t>
            </a:r>
            <a:r>
              <a:rPr lang="en-US" sz="2000" b="1" i="1" dirty="0" err="1">
                <a:cs typeface="Calibri"/>
              </a:rPr>
              <a:t>Geneformer's</a:t>
            </a:r>
            <a:r>
              <a:rPr lang="en-US" sz="2000" b="1" i="1" dirty="0">
                <a:cs typeface="Calibri"/>
              </a:rPr>
              <a:t> ISP</a:t>
            </a:r>
            <a:endParaRPr lang="en-US" sz="2000" b="1" i="1" dirty="0"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b="1" i="1" dirty="0">
                <a:cs typeface="Calibri"/>
              </a:rPr>
              <a:t> Results</a:t>
            </a:r>
            <a:endParaRPr lang="en-US" sz="2000" b="1" i="1" dirty="0">
              <a:cs typeface="Calibri" panose="020F0502020204030204" pitchFamily="34" charset="0"/>
            </a:endParaRP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528E4AFE-0B7A-F2CC-DD50-5DD2B3B1B7A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967792" y="529101"/>
            <a:ext cx="1883814" cy="45250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0226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EF98-68BB-8E54-3D4C-B6B08B6B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C8089-66E2-D2B1-522F-70A71BB80487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Gene Embeddings  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B7DB68-F054-7C82-52D4-14679052E75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3AB12E-9DEB-F0DC-8F92-D6AB526F3A6A}"/>
              </a:ext>
            </a:extLst>
          </p:cNvPr>
          <p:cNvSpPr txBox="1"/>
          <p:nvPr/>
        </p:nvSpPr>
        <p:spPr>
          <a:xfrm>
            <a:off x="442323" y="989339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Geneformer the foundation model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Rank value encodings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HVGs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What are gene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0F6456-2785-48FF-28ED-6BFE59306444}"/>
              </a:ext>
            </a:extLst>
          </p:cNvPr>
          <p:cNvSpPr/>
          <p:nvPr/>
        </p:nvSpPr>
        <p:spPr>
          <a:xfrm rot="16200000">
            <a:off x="-84555" y="1324668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67DF-9DE9-9D1D-50E8-024560C9F86E}"/>
              </a:ext>
            </a:extLst>
          </p:cNvPr>
          <p:cNvSpPr/>
          <p:nvPr/>
        </p:nvSpPr>
        <p:spPr>
          <a:xfrm>
            <a:off x="193207" y="2515167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Cell X Gene matrix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4FA21-C3D2-BDFB-C6A0-60C5908DC2CC}"/>
              </a:ext>
            </a:extLst>
          </p:cNvPr>
          <p:cNvSpPr txBox="1"/>
          <p:nvPr/>
        </p:nvSpPr>
        <p:spPr>
          <a:xfrm>
            <a:off x="3676192" y="2338846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C898D4B-DE02-50F3-EE66-55F1B316036B}"/>
              </a:ext>
            </a:extLst>
          </p:cNvPr>
          <p:cNvSpPr/>
          <p:nvPr/>
        </p:nvSpPr>
        <p:spPr>
          <a:xfrm>
            <a:off x="5697105" y="175823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367129-F0B8-800C-391E-C6156D80A19D}"/>
              </a:ext>
            </a:extLst>
          </p:cNvPr>
          <p:cNvCxnSpPr>
            <a:cxnSpLocks/>
          </p:cNvCxnSpPr>
          <p:nvPr/>
        </p:nvCxnSpPr>
        <p:spPr>
          <a:xfrm flipV="1">
            <a:off x="1930863" y="3480064"/>
            <a:ext cx="476919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2855C5-AE61-EDDC-A741-88C70CD6F7CF}"/>
              </a:ext>
            </a:extLst>
          </p:cNvPr>
          <p:cNvCxnSpPr>
            <a:cxnSpLocks/>
            <a:stCxn id="18" idx="3"/>
            <a:endCxn id="20" idx="3"/>
          </p:cNvCxnSpPr>
          <p:nvPr/>
        </p:nvCxnSpPr>
        <p:spPr>
          <a:xfrm>
            <a:off x="4701225" y="3493008"/>
            <a:ext cx="995880" cy="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6575DA-7087-409C-D898-9244DB2F46CE}"/>
              </a:ext>
            </a:extLst>
          </p:cNvPr>
          <p:cNvSpPr txBox="1"/>
          <p:nvPr/>
        </p:nvSpPr>
        <p:spPr>
          <a:xfrm>
            <a:off x="8112293" y="2645059"/>
            <a:ext cx="3918477" cy="1709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108847" tIns="54423" rIns="108847" bIns="54423" anchorCtr="0" compatLnSpc="0"/>
          <a:lstStyle/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TP53: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[ 0.12, -0.45,  1.03, ..., -0.18,  0.77 ]   ← 768 dim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EGFR: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 1.02, -0.44 ]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BRCA1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[ 0.88,  0.14, -0.67, ..., -0.09,  0.51 ]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097A06-ED2C-F7C5-C312-FF7D101E4F8B}"/>
              </a:ext>
            </a:extLst>
          </p:cNvPr>
          <p:cNvCxnSpPr>
            <a:cxnSpLocks/>
          </p:cNvCxnSpPr>
          <p:nvPr/>
        </p:nvCxnSpPr>
        <p:spPr>
          <a:xfrm flipV="1">
            <a:off x="7473418" y="3499782"/>
            <a:ext cx="638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AB55D4-2AC8-0D66-8F76-82ADBA2521C9}"/>
              </a:ext>
            </a:extLst>
          </p:cNvPr>
          <p:cNvSpPr txBox="1"/>
          <p:nvPr/>
        </p:nvSpPr>
        <p:spPr>
          <a:xfrm>
            <a:off x="1770647" y="5136132"/>
            <a:ext cx="23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Rank value Encodings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A501C9-CC40-4477-34A6-B12EAEA6BA98}"/>
              </a:ext>
            </a:extLst>
          </p:cNvPr>
          <p:cNvSpPr txBox="1"/>
          <p:nvPr/>
        </p:nvSpPr>
        <p:spPr>
          <a:xfrm>
            <a:off x="8149237" y="5456000"/>
            <a:ext cx="384606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Cell Embedding</a:t>
            </a:r>
          </a:p>
          <a:p>
            <a:pPr hangingPunct="0"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-0.89,  1.14 ]   - 768 dim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62027F-5B3C-6BAC-C9F7-8E4AAD04777A}"/>
              </a:ext>
            </a:extLst>
          </p:cNvPr>
          <p:cNvCxnSpPr>
            <a:cxnSpLocks/>
          </p:cNvCxnSpPr>
          <p:nvPr/>
        </p:nvCxnSpPr>
        <p:spPr>
          <a:xfrm>
            <a:off x="10071532" y="4354506"/>
            <a:ext cx="737" cy="110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89058B8C-E51E-3B77-03AC-D83F0034D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07" y="3057522"/>
            <a:ext cx="1745329" cy="1218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B7178B-AC03-BF28-ACAB-D49A538306B3}"/>
              </a:ext>
            </a:extLst>
          </p:cNvPr>
          <p:cNvSpPr/>
          <p:nvPr/>
        </p:nvSpPr>
        <p:spPr>
          <a:xfrm rot="16200000">
            <a:off x="2139699" y="3295726"/>
            <a:ext cx="927998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Tokenizer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AB3C94-1141-4158-A95F-926782BE96D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788036" y="3491599"/>
            <a:ext cx="888156" cy="1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62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F181-2F66-716C-69FB-709613D8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AA4923-BDFA-78BA-863E-6AC0E1A66F16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Insilico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Perturbation in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Geneformer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388E57-8533-06E2-2096-07AF5E5454A5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7594E556-6ED1-D3E8-CC9E-A50BFB9ED397}"/>
              </a:ext>
            </a:extLst>
          </p:cNvPr>
          <p:cNvSpPr/>
          <p:nvPr/>
        </p:nvSpPr>
        <p:spPr>
          <a:xfrm>
            <a:off x="185533" y="1432789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PC9 DMSO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7A86866-0266-F7F3-AA3A-EAA2B9315566}"/>
              </a:ext>
            </a:extLst>
          </p:cNvPr>
          <p:cNvSpPr/>
          <p:nvPr/>
        </p:nvSpPr>
        <p:spPr>
          <a:xfrm>
            <a:off x="185533" y="2989996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PC9 OSI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9DD2E4-BB2F-53C9-B3B5-6A1046B181C9}"/>
              </a:ext>
            </a:extLst>
          </p:cNvPr>
          <p:cNvSpPr/>
          <p:nvPr/>
        </p:nvSpPr>
        <p:spPr>
          <a:xfrm>
            <a:off x="185534" y="4806682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PC9 OSI-TRAM</a:t>
            </a: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5A54A6C5-098A-5774-E152-2B10E3844126}"/>
              </a:ext>
            </a:extLst>
          </p:cNvPr>
          <p:cNvSpPr/>
          <p:nvPr/>
        </p:nvSpPr>
        <p:spPr>
          <a:xfrm>
            <a:off x="3347097" y="1432787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E2EED2AC-F791-F589-7E01-BC4B34DDA050}"/>
              </a:ext>
            </a:extLst>
          </p:cNvPr>
          <p:cNvCxnSpPr>
            <a:stCxn id="70" idx="3"/>
            <a:endCxn id="91" idx="3"/>
          </p:cNvCxnSpPr>
          <p:nvPr/>
        </p:nvCxnSpPr>
        <p:spPr>
          <a:xfrm>
            <a:off x="1930862" y="1617127"/>
            <a:ext cx="1416235" cy="15572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B27BF02-1185-4701-D629-C6C7661C3604}"/>
              </a:ext>
            </a:extLst>
          </p:cNvPr>
          <p:cNvCxnSpPr>
            <a:stCxn id="83" idx="3"/>
            <a:endCxn id="91" idx="3"/>
          </p:cNvCxnSpPr>
          <p:nvPr/>
        </p:nvCxnSpPr>
        <p:spPr>
          <a:xfrm flipV="1">
            <a:off x="1930862" y="3174333"/>
            <a:ext cx="141623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0EAB0C2C-EC80-BE0C-B969-45428F314857}"/>
              </a:ext>
            </a:extLst>
          </p:cNvPr>
          <p:cNvCxnSpPr>
            <a:stCxn id="84" idx="3"/>
            <a:endCxn id="91" idx="3"/>
          </p:cNvCxnSpPr>
          <p:nvPr/>
        </p:nvCxnSpPr>
        <p:spPr>
          <a:xfrm flipV="1">
            <a:off x="1930863" y="3174333"/>
            <a:ext cx="1416234" cy="18166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61DB9F19-7990-3D65-2A2D-65E1FD77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112" y="1395687"/>
            <a:ext cx="5069276" cy="3558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D07769D-6C77-7A20-FE72-5E0378AAB26E}"/>
              </a:ext>
            </a:extLst>
          </p:cNvPr>
          <p:cNvCxnSpPr>
            <a:stCxn id="91" idx="1"/>
            <a:endCxn id="104" idx="1"/>
          </p:cNvCxnSpPr>
          <p:nvPr/>
        </p:nvCxnSpPr>
        <p:spPr>
          <a:xfrm>
            <a:off x="5123410" y="3174333"/>
            <a:ext cx="1576702" cy="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98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D30E-43A3-BD04-493F-E3FCE2CF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A7A6B7-DFCE-1148-7797-CE93E1C07D1F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1 Genes at a time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395AA28-46A2-C9D8-3E15-DFAB6EC66B26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FD25F48E-642F-D347-F751-343E836D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575" y="1342950"/>
            <a:ext cx="5069276" cy="3558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Picture 13" descr="A blue circle with a dot&#10;&#10;AI-generated content may be incorrect.">
            <a:extLst>
              <a:ext uri="{FF2B5EF4-FFF2-40B4-BE49-F238E27FC236}">
                <a16:creationId xmlns:a16="http://schemas.microsoft.com/office/drawing/2014/main" id="{566ABB10-37D0-9069-8378-A9DE08114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99" y="1717972"/>
            <a:ext cx="717280" cy="7457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D1C47B-B3EB-0491-A8AA-141F1B08C121}"/>
              </a:ext>
            </a:extLst>
          </p:cNvPr>
          <p:cNvSpPr/>
          <p:nvPr/>
        </p:nvSpPr>
        <p:spPr>
          <a:xfrm>
            <a:off x="96119" y="2681631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PC9 DMSO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8BF7FC5-3712-AF93-02EB-EE241B2059DD}"/>
              </a:ext>
            </a:extLst>
          </p:cNvPr>
          <p:cNvSpPr/>
          <p:nvPr/>
        </p:nvSpPr>
        <p:spPr>
          <a:xfrm>
            <a:off x="3759574" y="1389770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559CF-D0D1-C499-BC3D-E23702E0DAB5}"/>
              </a:ext>
            </a:extLst>
          </p:cNvPr>
          <p:cNvSpPr txBox="1"/>
          <p:nvPr/>
        </p:nvSpPr>
        <p:spPr>
          <a:xfrm>
            <a:off x="2081756" y="2801390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sng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2D686B4-3E2B-EA16-EF00-12509F23C9D5}"/>
              </a:ext>
            </a:extLst>
          </p:cNvPr>
          <p:cNvCxnSpPr>
            <a:stCxn id="3" idx="2"/>
            <a:endCxn id="9" idx="1"/>
          </p:cNvCxnSpPr>
          <p:nvPr/>
        </p:nvCxnSpPr>
        <p:spPr>
          <a:xfrm rot="16200000" flipH="1">
            <a:off x="1072647" y="2946443"/>
            <a:ext cx="905246" cy="11129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43E1B7-BC74-417F-0862-3E2A8A61EF29}"/>
              </a:ext>
            </a:extLst>
          </p:cNvPr>
          <p:cNvCxnSpPr>
            <a:stCxn id="9" idx="3"/>
            <a:endCxn id="8" idx="3"/>
          </p:cNvCxnSpPr>
          <p:nvPr/>
        </p:nvCxnSpPr>
        <p:spPr>
          <a:xfrm flipV="1">
            <a:off x="3106789" y="3131316"/>
            <a:ext cx="652785" cy="8242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92F7022-3882-7506-CF08-45B87A866CDA}"/>
              </a:ext>
            </a:extLst>
          </p:cNvPr>
          <p:cNvSpPr/>
          <p:nvPr/>
        </p:nvSpPr>
        <p:spPr>
          <a:xfrm rot="1220408">
            <a:off x="8173609" y="2579134"/>
            <a:ext cx="655890" cy="36867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6E76F0-6DC0-938B-0B68-83500F3547C0}"/>
              </a:ext>
            </a:extLst>
          </p:cNvPr>
          <p:cNvCxnSpPr>
            <a:stCxn id="8" idx="1"/>
            <a:endCxn id="7" idx="1"/>
          </p:cNvCxnSpPr>
          <p:nvPr/>
        </p:nvCxnSpPr>
        <p:spPr>
          <a:xfrm flipV="1">
            <a:off x="5535887" y="3122328"/>
            <a:ext cx="1014688" cy="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5B286-82FE-7AF8-31C0-F3936B9924E3}"/>
              </a:ext>
            </a:extLst>
          </p:cNvPr>
          <p:cNvSpPr/>
          <p:nvPr/>
        </p:nvSpPr>
        <p:spPr>
          <a:xfrm rot="16200000">
            <a:off x="504784" y="3823095"/>
            <a:ext cx="927998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Tokenizer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9493F-40CD-8A50-DD4E-E2B774106252}"/>
              </a:ext>
            </a:extLst>
          </p:cNvPr>
          <p:cNvSpPr txBox="1"/>
          <p:nvPr/>
        </p:nvSpPr>
        <p:spPr>
          <a:xfrm>
            <a:off x="968783" y="5394833"/>
            <a:ext cx="4106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{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"delete"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"overexpress"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"inhibit"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"activate"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},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81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4BD2-82DD-3AE9-E4CE-44DC2A44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9CB344-0A10-FADA-393A-AD70BC3322C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2 Genes at a time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940B71-9F30-D0B5-BE98-760E67F43B07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B37549E8-D2C5-B2EF-43C8-927BAB6E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575" y="1351937"/>
            <a:ext cx="5069276" cy="3558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Picture 13" descr="A blue circle with a dot&#10;&#10;AI-generated content may be incorrect.">
            <a:extLst>
              <a:ext uri="{FF2B5EF4-FFF2-40B4-BE49-F238E27FC236}">
                <a16:creationId xmlns:a16="http://schemas.microsoft.com/office/drawing/2014/main" id="{5C1C5E6D-3522-6B01-6637-24ADF153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99" y="1717972"/>
            <a:ext cx="717280" cy="7457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C4F1F2-BBA7-83CB-2E60-76BADF66D2AC}"/>
              </a:ext>
            </a:extLst>
          </p:cNvPr>
          <p:cNvSpPr/>
          <p:nvPr/>
        </p:nvSpPr>
        <p:spPr>
          <a:xfrm>
            <a:off x="96119" y="2681631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PC9 DMSO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55ED3DA-62B2-8FF9-981B-0722889D2650}"/>
              </a:ext>
            </a:extLst>
          </p:cNvPr>
          <p:cNvSpPr/>
          <p:nvPr/>
        </p:nvSpPr>
        <p:spPr>
          <a:xfrm>
            <a:off x="3759574" y="1389770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57777-6A8C-226B-7D10-F0BA5DF09857}"/>
              </a:ext>
            </a:extLst>
          </p:cNvPr>
          <p:cNvSpPr txBox="1"/>
          <p:nvPr/>
        </p:nvSpPr>
        <p:spPr>
          <a:xfrm>
            <a:off x="2081756" y="2801390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sng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sng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0AAAA63-1739-9A0D-FED6-1E867DA20FDF}"/>
              </a:ext>
            </a:extLst>
          </p:cNvPr>
          <p:cNvCxnSpPr>
            <a:stCxn id="3" idx="2"/>
            <a:endCxn id="9" idx="1"/>
          </p:cNvCxnSpPr>
          <p:nvPr/>
        </p:nvCxnSpPr>
        <p:spPr>
          <a:xfrm rot="16200000" flipH="1">
            <a:off x="1072647" y="2946443"/>
            <a:ext cx="905246" cy="11129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47BA32E-D8D4-60D8-9FFF-B677E9E70E6E}"/>
              </a:ext>
            </a:extLst>
          </p:cNvPr>
          <p:cNvCxnSpPr>
            <a:stCxn id="9" idx="3"/>
            <a:endCxn id="8" idx="3"/>
          </p:cNvCxnSpPr>
          <p:nvPr/>
        </p:nvCxnSpPr>
        <p:spPr>
          <a:xfrm flipV="1">
            <a:off x="3106789" y="3131316"/>
            <a:ext cx="652785" cy="8242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52BA0B3-49E9-6BBD-AB45-5765336CBE0F}"/>
              </a:ext>
            </a:extLst>
          </p:cNvPr>
          <p:cNvSpPr/>
          <p:nvPr/>
        </p:nvSpPr>
        <p:spPr>
          <a:xfrm rot="3177338">
            <a:off x="7799833" y="3127933"/>
            <a:ext cx="1770916" cy="36867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708157-6BE9-F71A-4882-B2AF51F414D3}"/>
              </a:ext>
            </a:extLst>
          </p:cNvPr>
          <p:cNvCxnSpPr>
            <a:stCxn id="8" idx="1"/>
            <a:endCxn id="7" idx="1"/>
          </p:cNvCxnSpPr>
          <p:nvPr/>
        </p:nvCxnSpPr>
        <p:spPr>
          <a:xfrm flipV="1">
            <a:off x="5535887" y="3131315"/>
            <a:ext cx="10146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A871B5D-12A2-B19E-0931-03B21DC8F71D}"/>
              </a:ext>
            </a:extLst>
          </p:cNvPr>
          <p:cNvSpPr/>
          <p:nvPr/>
        </p:nvSpPr>
        <p:spPr>
          <a:xfrm rot="16200000">
            <a:off x="504784" y="3823095"/>
            <a:ext cx="927998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Tokenizer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3F23BB-DAE6-EE09-3E1C-8F237B910FFD}"/>
              </a:ext>
            </a:extLst>
          </p:cNvPr>
          <p:cNvSpPr txBox="1"/>
          <p:nvPr/>
        </p:nvSpPr>
        <p:spPr>
          <a:xfrm>
            <a:off x="968783" y="5394833"/>
            <a:ext cx="4106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{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"delete"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"overexpress"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"inhibit"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IBM Plex Mono" panose="020B0509050203000203" pitchFamily="49" charset="0"/>
              </a:rPr>
              <a:t>"activate"</a:t>
            </a:r>
            <a:r>
              <a:rPr lang="en-IN" b="0" i="0" dirty="0">
                <a:solidFill>
                  <a:srgbClr val="000000"/>
                </a:solidFill>
                <a:effectLst/>
                <a:latin typeface="IBM Plex Mono" panose="020B0509050203000203" pitchFamily="49" charset="0"/>
              </a:rPr>
              <a:t>},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80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2D27-97C3-02D2-08DB-A8AB413C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46DE0A-09ED-64CB-07A0-E4A1438DB5B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 spc="-1" dirty="0">
                <a:solidFill>
                  <a:srgbClr val="000000"/>
                </a:solidFill>
              </a:rPr>
              <a:t>VCC AND PERTURBATION</a:t>
            </a:r>
            <a:endParaRPr lang="en-IN" sz="2800" spc="-1" dirty="0">
              <a:latin typeface="Arial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07D0DA-BB5E-F67E-FA07-3B4D13A5251C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73FF80C-1564-8A9B-E84C-478989ED5CAD}"/>
              </a:ext>
            </a:extLst>
          </p:cNvPr>
          <p:cNvSpPr/>
          <p:nvPr/>
        </p:nvSpPr>
        <p:spPr>
          <a:xfrm>
            <a:off x="251588" y="825567"/>
            <a:ext cx="11688824" cy="24916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 blue circle with a dot&#10;&#10;AI-generated content may be incorrect.">
            <a:extLst>
              <a:ext uri="{FF2B5EF4-FFF2-40B4-BE49-F238E27FC236}">
                <a16:creationId xmlns:a16="http://schemas.microsoft.com/office/drawing/2014/main" id="{04C0A9E7-C31B-48C6-2B9C-2D72E740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877" y="1261662"/>
            <a:ext cx="717280" cy="7457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E1BCB66-E69F-4599-F94B-EA58F438CAB1}"/>
              </a:ext>
            </a:extLst>
          </p:cNvPr>
          <p:cNvSpPr/>
          <p:nvPr/>
        </p:nvSpPr>
        <p:spPr>
          <a:xfrm>
            <a:off x="985353" y="2111547"/>
            <a:ext cx="1412327" cy="573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CONTROL CELLS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38 K CELLS</a:t>
            </a:r>
          </a:p>
        </p:txBody>
      </p:sp>
      <p:pic>
        <p:nvPicPr>
          <p:cNvPr id="23" name="Picture 22" descr="A cartoon of a egg&#10;&#10;AI-generated content may be incorrect.">
            <a:extLst>
              <a:ext uri="{FF2B5EF4-FFF2-40B4-BE49-F238E27FC236}">
                <a16:creationId xmlns:a16="http://schemas.microsoft.com/office/drawing/2014/main" id="{A71E3499-FC36-8541-3D7D-966D18A6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9932" y="1686605"/>
            <a:ext cx="717279" cy="8498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91A4F1-F530-A8C6-FA69-8C7C4DC25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797" y="1779480"/>
            <a:ext cx="1476581" cy="1228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75F3DA6-C8BE-9E77-B204-926DD1488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30651"/>
              </p:ext>
            </p:extLst>
          </p:nvPr>
        </p:nvGraphicFramePr>
        <p:xfrm>
          <a:off x="7866095" y="966725"/>
          <a:ext cx="221059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2769">
                  <a:extLst>
                    <a:ext uri="{9D8B030D-6E8A-4147-A177-3AD203B41FA5}">
                      <a16:colId xmlns:a16="http://schemas.microsoft.com/office/drawing/2014/main" val="1571873313"/>
                    </a:ext>
                  </a:extLst>
                </a:gridCol>
                <a:gridCol w="877825">
                  <a:extLst>
                    <a:ext uri="{9D8B030D-6E8A-4147-A177-3AD203B41FA5}">
                      <a16:colId xmlns:a16="http://schemas.microsoft.com/office/drawing/2014/main" val="258643521"/>
                    </a:ext>
                  </a:extLst>
                </a:gridCol>
              </a:tblGrid>
              <a:tr h="245779">
                <a:tc>
                  <a:txBody>
                    <a:bodyPr/>
                    <a:lstStyle/>
                    <a:p>
                      <a:r>
                        <a:rPr lang="en-IN" sz="1200" dirty="0"/>
                        <a:t>Perturbed 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90879"/>
                  </a:ext>
                </a:extLst>
              </a:tr>
              <a:tr h="245779">
                <a:tc>
                  <a:txBody>
                    <a:bodyPr/>
                    <a:lstStyle/>
                    <a:p>
                      <a:r>
                        <a:rPr lang="en-IN" sz="1200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4134"/>
                  </a:ext>
                </a:extLst>
              </a:tr>
              <a:tr h="245779">
                <a:tc>
                  <a:txBody>
                    <a:bodyPr/>
                    <a:lstStyle/>
                    <a:p>
                      <a:r>
                        <a:rPr lang="en-IN" sz="1200" dirty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7541"/>
                  </a:ext>
                </a:extLst>
              </a:tr>
              <a:tr h="245779">
                <a:tc>
                  <a:txBody>
                    <a:bodyPr/>
                    <a:lstStyle/>
                    <a:p>
                      <a:r>
                        <a:rPr lang="en-IN" sz="1200" dirty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54709"/>
                  </a:ext>
                </a:extLst>
              </a:tr>
              <a:tr h="245779">
                <a:tc>
                  <a:txBody>
                    <a:bodyPr/>
                    <a:lstStyle/>
                    <a:p>
                      <a:r>
                        <a:rPr lang="en-IN" sz="1200" dirty="0"/>
                        <a:t>g150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02067"/>
                  </a:ext>
                </a:extLst>
              </a:tr>
            </a:tbl>
          </a:graphicData>
        </a:graphic>
      </p:graphicFrame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3385C28-E672-D9DB-D20A-12756FABA40F}"/>
              </a:ext>
            </a:extLst>
          </p:cNvPr>
          <p:cNvCxnSpPr>
            <a:stCxn id="20" idx="3"/>
            <a:endCxn id="24" idx="1"/>
          </p:cNvCxnSpPr>
          <p:nvPr/>
        </p:nvCxnSpPr>
        <p:spPr>
          <a:xfrm flipV="1">
            <a:off x="2397680" y="2393928"/>
            <a:ext cx="1204117" cy="44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4DB0DD9-49F3-66DA-637B-DCE4B95D1AF7}"/>
              </a:ext>
            </a:extLst>
          </p:cNvPr>
          <p:cNvSpPr/>
          <p:nvPr/>
        </p:nvSpPr>
        <p:spPr>
          <a:xfrm>
            <a:off x="10434993" y="2592445"/>
            <a:ext cx="1412327" cy="573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PERTURBED CELLS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Ground Truth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3B597D8-E281-C4F9-A4BE-5D18E2BAFF3B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 flipV="1">
            <a:off x="5078379" y="1779480"/>
            <a:ext cx="2787719" cy="6144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8D04B00-D580-A3A5-6DBC-1EBACE773BBD}"/>
              </a:ext>
            </a:extLst>
          </p:cNvPr>
          <p:cNvSpPr/>
          <p:nvPr/>
        </p:nvSpPr>
        <p:spPr>
          <a:xfrm>
            <a:off x="3601797" y="2956739"/>
            <a:ext cx="1476581" cy="237744"/>
          </a:xfrm>
          <a:prstGeom prst="rect">
            <a:avLst/>
          </a:prstGeom>
          <a:solidFill>
            <a:srgbClr val="3CA2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TRAINING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E9DA3C-1EA2-2C61-639F-9D4C18BDA3AB}"/>
              </a:ext>
            </a:extLst>
          </p:cNvPr>
          <p:cNvSpPr/>
          <p:nvPr/>
        </p:nvSpPr>
        <p:spPr>
          <a:xfrm>
            <a:off x="248674" y="3603723"/>
            <a:ext cx="11688824" cy="24916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B1DA0B15-60B7-7212-ADCF-9D0B9AD29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350522"/>
              </p:ext>
            </p:extLst>
          </p:nvPr>
        </p:nvGraphicFramePr>
        <p:xfrm>
          <a:off x="2131151" y="4130347"/>
          <a:ext cx="206286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272">
                  <a:extLst>
                    <a:ext uri="{9D8B030D-6E8A-4147-A177-3AD203B41FA5}">
                      <a16:colId xmlns:a16="http://schemas.microsoft.com/office/drawing/2014/main" val="1571873313"/>
                    </a:ext>
                  </a:extLst>
                </a:gridCol>
                <a:gridCol w="833595">
                  <a:extLst>
                    <a:ext uri="{9D8B030D-6E8A-4147-A177-3AD203B41FA5}">
                      <a16:colId xmlns:a16="http://schemas.microsoft.com/office/drawing/2014/main" val="258643521"/>
                    </a:ext>
                  </a:extLst>
                </a:gridCol>
              </a:tblGrid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Perturbed 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90879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4134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7541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54709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02067"/>
                  </a:ext>
                </a:extLst>
              </a:tr>
            </a:tbl>
          </a:graphicData>
        </a:graphic>
      </p:graphicFrame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8CE9A29-C53B-8AC4-ECA3-B6D8EC396C31}"/>
              </a:ext>
            </a:extLst>
          </p:cNvPr>
          <p:cNvCxnSpPr>
            <a:cxnSpLocks/>
            <a:stCxn id="20" idx="3"/>
            <a:endCxn id="40" idx="1"/>
          </p:cNvCxnSpPr>
          <p:nvPr/>
        </p:nvCxnSpPr>
        <p:spPr>
          <a:xfrm flipH="1">
            <a:off x="2131151" y="2398418"/>
            <a:ext cx="266529" cy="2417729"/>
          </a:xfrm>
          <a:prstGeom prst="bentConnector5">
            <a:avLst>
              <a:gd name="adj1" fmla="val -85769"/>
              <a:gd name="adj2" fmla="val 41750"/>
              <a:gd name="adj3" fmla="val 1857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1C513770-DB5A-226C-F059-47D44220D5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02521" y="4068642"/>
            <a:ext cx="1476581" cy="1228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4F76C3D-800C-9696-326F-C7239D6F60B2}"/>
              </a:ext>
            </a:extLst>
          </p:cNvPr>
          <p:cNvSpPr/>
          <p:nvPr/>
        </p:nvSpPr>
        <p:spPr>
          <a:xfrm>
            <a:off x="5902520" y="5287320"/>
            <a:ext cx="1476581" cy="237744"/>
          </a:xfrm>
          <a:prstGeom prst="rect">
            <a:avLst/>
          </a:prstGeom>
          <a:solidFill>
            <a:srgbClr val="3CA2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7E4C17-F5EC-65F6-9B3D-15D26736D241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700868" y="4683090"/>
            <a:ext cx="2201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3D3CA0-803F-8CAC-1672-1D55887BD051}"/>
              </a:ext>
            </a:extLst>
          </p:cNvPr>
          <p:cNvCxnSpPr>
            <a:cxnSpLocks/>
          </p:cNvCxnSpPr>
          <p:nvPr/>
        </p:nvCxnSpPr>
        <p:spPr>
          <a:xfrm>
            <a:off x="7379101" y="4686119"/>
            <a:ext cx="1195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EE5CC23C-E217-9AFB-A263-A5F5A618457C}"/>
              </a:ext>
            </a:extLst>
          </p:cNvPr>
          <p:cNvSpPr/>
          <p:nvPr/>
        </p:nvSpPr>
        <p:spPr>
          <a:xfrm>
            <a:off x="8574913" y="4396219"/>
            <a:ext cx="1412327" cy="573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VIRTUAL CELLS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30A4478-2E2D-386F-9469-6787FEA63A92}"/>
              </a:ext>
            </a:extLst>
          </p:cNvPr>
          <p:cNvSpPr/>
          <p:nvPr/>
        </p:nvSpPr>
        <p:spPr>
          <a:xfrm rot="16200000">
            <a:off x="-558680" y="1427627"/>
            <a:ext cx="1412327" cy="208207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TRAINING SET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80AD759-8C38-FB30-0A00-119513053DC3}"/>
              </a:ext>
            </a:extLst>
          </p:cNvPr>
          <p:cNvSpPr/>
          <p:nvPr/>
        </p:nvSpPr>
        <p:spPr>
          <a:xfrm rot="16200000">
            <a:off x="-561593" y="4205474"/>
            <a:ext cx="1412327" cy="208207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VALIDATION SET</a:t>
            </a:r>
          </a:p>
        </p:txBody>
      </p:sp>
    </p:spTree>
    <p:extLst>
      <p:ext uri="{BB962C8B-B14F-4D97-AF65-F5344CB8AC3E}">
        <p14:creationId xmlns:p14="http://schemas.microsoft.com/office/powerpoint/2010/main" val="38581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D8C8E04-C518-E361-4253-C2B82EBE3F23}"/>
              </a:ext>
            </a:extLst>
          </p:cNvPr>
          <p:cNvSpPr/>
          <p:nvPr/>
        </p:nvSpPr>
        <p:spPr>
          <a:xfrm>
            <a:off x="333884" y="266976"/>
            <a:ext cx="11688824" cy="4048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Picture 21" descr="A blue circle with a dot&#10;&#10;AI-generated content may be incorrect.">
            <a:extLst>
              <a:ext uri="{FF2B5EF4-FFF2-40B4-BE49-F238E27FC236}">
                <a16:creationId xmlns:a16="http://schemas.microsoft.com/office/drawing/2014/main" id="{EA8D6395-ADDB-E8DE-7215-054BA9539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74" y="1462830"/>
            <a:ext cx="717280" cy="74574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3D7CCD3-38D7-A320-A2BC-BB5594B87B27}"/>
              </a:ext>
            </a:extLst>
          </p:cNvPr>
          <p:cNvSpPr/>
          <p:nvPr/>
        </p:nvSpPr>
        <p:spPr>
          <a:xfrm>
            <a:off x="685451" y="2384269"/>
            <a:ext cx="1412327" cy="573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CONTROL CELLS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38 K CELLS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0E6B1C7-BC60-49DD-FBAC-9243E164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28580"/>
              </p:ext>
            </p:extLst>
          </p:nvPr>
        </p:nvGraphicFramePr>
        <p:xfrm>
          <a:off x="2981543" y="1712618"/>
          <a:ext cx="2062867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272">
                  <a:extLst>
                    <a:ext uri="{9D8B030D-6E8A-4147-A177-3AD203B41FA5}">
                      <a16:colId xmlns:a16="http://schemas.microsoft.com/office/drawing/2014/main" val="1571873313"/>
                    </a:ext>
                  </a:extLst>
                </a:gridCol>
                <a:gridCol w="833595">
                  <a:extLst>
                    <a:ext uri="{9D8B030D-6E8A-4147-A177-3AD203B41FA5}">
                      <a16:colId xmlns:a16="http://schemas.microsoft.com/office/drawing/2014/main" val="258643521"/>
                    </a:ext>
                  </a:extLst>
                </a:gridCol>
              </a:tblGrid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Perturbed 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90879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4134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7541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841486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258896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94096"/>
                  </a:ext>
                </a:extLst>
              </a:tr>
              <a:tr h="184576">
                <a:tc>
                  <a:txBody>
                    <a:bodyPr/>
                    <a:lstStyle/>
                    <a:p>
                      <a:r>
                        <a:rPr lang="en-IN" sz="1200" dirty="0"/>
                        <a:t>g100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02067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DECA3E24-2E98-2781-81D7-901F2C0EF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7995" y="1729115"/>
            <a:ext cx="1476581" cy="1228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418647A-0DC8-ABB2-0D86-A23B7B053BC9}"/>
              </a:ext>
            </a:extLst>
          </p:cNvPr>
          <p:cNvSpPr/>
          <p:nvPr/>
        </p:nvSpPr>
        <p:spPr>
          <a:xfrm>
            <a:off x="6341432" y="2931296"/>
            <a:ext cx="1476581" cy="237744"/>
          </a:xfrm>
          <a:prstGeom prst="rect">
            <a:avLst/>
          </a:prstGeom>
          <a:solidFill>
            <a:srgbClr val="3CA2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398D7D-FE45-885C-BF63-FB4903A58C2F}"/>
              </a:ext>
            </a:extLst>
          </p:cNvPr>
          <p:cNvSpPr/>
          <p:nvPr/>
        </p:nvSpPr>
        <p:spPr>
          <a:xfrm>
            <a:off x="8785225" y="2058483"/>
            <a:ext cx="1412327" cy="573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VIRTUAL CELLS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0F8C513-5093-A54D-4E53-5DDB7FE634A3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2097778" y="2671140"/>
            <a:ext cx="883765" cy="15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D1E6453-F2CA-234F-967F-FBB5969DF6BD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5060972" y="2343563"/>
            <a:ext cx="1297023" cy="2868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46C06C6-C2FF-43BB-7BA0-E9F0B6CCCDD0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7834576" y="2343563"/>
            <a:ext cx="950649" cy="1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06D6E-0449-596F-02B5-35777B488151}"/>
              </a:ext>
            </a:extLst>
          </p:cNvPr>
          <p:cNvSpPr/>
          <p:nvPr/>
        </p:nvSpPr>
        <p:spPr>
          <a:xfrm rot="16200000">
            <a:off x="-476383" y="869036"/>
            <a:ext cx="1412327" cy="208207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27389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7B0B-B33F-7899-E9E6-EDA19C60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03BF6C-CAD7-E12D-2E37-CEF8DBF7855B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Challenge of using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Genformer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in VCC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CF3C7A-A382-8229-8072-F87013F3174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5B66416-CD8F-D9C2-3C31-85A2D9FF78C7}"/>
              </a:ext>
            </a:extLst>
          </p:cNvPr>
          <p:cNvSpPr/>
          <p:nvPr/>
        </p:nvSpPr>
        <p:spPr>
          <a:xfrm>
            <a:off x="4136112" y="1385523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7" name="Picture 6" descr="A blue circle with a dot&#10;&#10;AI-generated content may be incorrect.">
            <a:extLst>
              <a:ext uri="{FF2B5EF4-FFF2-40B4-BE49-F238E27FC236}">
                <a16:creationId xmlns:a16="http://schemas.microsoft.com/office/drawing/2014/main" id="{42819DAC-4F68-3B19-22FA-57D1CDF4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11" y="1798274"/>
            <a:ext cx="717280" cy="745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748BAF-B57D-2C56-C8EB-5CDF8565A194}"/>
              </a:ext>
            </a:extLst>
          </p:cNvPr>
          <p:cNvSpPr txBox="1"/>
          <p:nvPr/>
        </p:nvSpPr>
        <p:spPr>
          <a:xfrm>
            <a:off x="2060935" y="197290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0F79A-6784-73E1-DDE1-16C1A878C797}"/>
              </a:ext>
            </a:extLst>
          </p:cNvPr>
          <p:cNvSpPr txBox="1"/>
          <p:nvPr/>
        </p:nvSpPr>
        <p:spPr>
          <a:xfrm>
            <a:off x="135697" y="5232311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3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84568F9B-0938-A6B0-C454-E57B16970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7" y="2642911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E1439B-D388-4BCC-FB54-EBD1B1AE9707}"/>
              </a:ext>
            </a:extLst>
          </p:cNvPr>
          <p:cNvCxnSpPr/>
          <p:nvPr/>
        </p:nvCxnSpPr>
        <p:spPr>
          <a:xfrm>
            <a:off x="1522743" y="3127069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ED6CE3-63CF-69FA-55B8-DB743D1052A3}"/>
              </a:ext>
            </a:extLst>
          </p:cNvPr>
          <p:cNvCxnSpPr/>
          <p:nvPr/>
        </p:nvCxnSpPr>
        <p:spPr>
          <a:xfrm>
            <a:off x="3085968" y="3127069"/>
            <a:ext cx="105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F5A406-85EF-C7C1-1FE0-9B7FD6405421}"/>
              </a:ext>
            </a:extLst>
          </p:cNvPr>
          <p:cNvSpPr txBox="1"/>
          <p:nvPr/>
        </p:nvSpPr>
        <p:spPr>
          <a:xfrm>
            <a:off x="2060935" y="5232311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0B013-A821-C4DD-94C6-530C09860273}"/>
              </a:ext>
            </a:extLst>
          </p:cNvPr>
          <p:cNvSpPr txBox="1"/>
          <p:nvPr/>
        </p:nvSpPr>
        <p:spPr>
          <a:xfrm>
            <a:off x="2060934" y="5693975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5A0E6A5-B5FF-E695-5E9B-19A1CF28AF40}"/>
              </a:ext>
            </a:extLst>
          </p:cNvPr>
          <p:cNvSpPr/>
          <p:nvPr/>
        </p:nvSpPr>
        <p:spPr>
          <a:xfrm>
            <a:off x="7077893" y="1385523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</a:t>
            </a:r>
          </a:p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Decoder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B6CBD-009D-D1BB-CBBC-DB2360187D58}"/>
              </a:ext>
            </a:extLst>
          </p:cNvPr>
          <p:cNvSpPr txBox="1"/>
          <p:nvPr/>
        </p:nvSpPr>
        <p:spPr>
          <a:xfrm>
            <a:off x="9925698" y="197290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A254A8-70E2-05B4-BFDF-7929A67AFF05}"/>
              </a:ext>
            </a:extLst>
          </p:cNvPr>
          <p:cNvSpPr txBox="1"/>
          <p:nvPr/>
        </p:nvSpPr>
        <p:spPr>
          <a:xfrm>
            <a:off x="9947295" y="532005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FC4C3DD-61B0-9B9C-7CCE-B6E90D9BEFEF}"/>
              </a:ext>
            </a:extLst>
          </p:cNvPr>
          <p:cNvCxnSpPr/>
          <p:nvPr/>
        </p:nvCxnSpPr>
        <p:spPr>
          <a:xfrm rot="16200000" flipH="1">
            <a:off x="4753613" y="1656179"/>
            <a:ext cx="3483091" cy="2941781"/>
          </a:xfrm>
          <a:prstGeom prst="bentConnector5">
            <a:avLst>
              <a:gd name="adj1" fmla="val -6563"/>
              <a:gd name="adj2" fmla="val 50000"/>
              <a:gd name="adj3" fmla="val 106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06E1C0E-6511-1228-FF31-4D2F3A7F57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75101" y="1276472"/>
            <a:ext cx="1741546" cy="1959648"/>
          </a:xfrm>
          <a:prstGeom prst="bentConnector4">
            <a:avLst>
              <a:gd name="adj1" fmla="val -13126"/>
              <a:gd name="adj2" fmla="val 72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AAEA13-D05E-D8DB-9ADA-E9BC429307AB}"/>
              </a:ext>
            </a:extLst>
          </p:cNvPr>
          <p:cNvSpPr txBox="1"/>
          <p:nvPr/>
        </p:nvSpPr>
        <p:spPr>
          <a:xfrm>
            <a:off x="144933" y="5693975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0F1431-CF43-5C12-8D9B-26DF5213DC2C}"/>
              </a:ext>
            </a:extLst>
          </p:cNvPr>
          <p:cNvSpPr txBox="1"/>
          <p:nvPr/>
        </p:nvSpPr>
        <p:spPr>
          <a:xfrm>
            <a:off x="9947295" y="578172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8794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371F-D6D1-889C-2F34-E4301D94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F337F4-EAFB-FA7D-255B-8501B7306F8E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BLUE PRINT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F72381-3C05-98FE-D113-2B35CE0EDDD4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6985692-D49C-9778-34B4-52FE63568FC2}"/>
              </a:ext>
            </a:extLst>
          </p:cNvPr>
          <p:cNvSpPr/>
          <p:nvPr/>
        </p:nvSpPr>
        <p:spPr>
          <a:xfrm>
            <a:off x="4217591" y="1321687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4" name="Picture 3" descr="A blue circle with a dot&#10;&#10;AI-generated content may be incorrect.">
            <a:extLst>
              <a:ext uri="{FF2B5EF4-FFF2-40B4-BE49-F238E27FC236}">
                <a16:creationId xmlns:a16="http://schemas.microsoft.com/office/drawing/2014/main" id="{683680F5-EFD4-8F21-2D5D-511181B98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6" y="1734440"/>
            <a:ext cx="694576" cy="722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BA2079-8564-41EA-4636-FDE07B3DDB84}"/>
              </a:ext>
            </a:extLst>
          </p:cNvPr>
          <p:cNvSpPr txBox="1"/>
          <p:nvPr/>
        </p:nvSpPr>
        <p:spPr>
          <a:xfrm>
            <a:off x="2119710" y="190907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3CF44-BEFD-146A-8580-12DCF3B18C96}"/>
              </a:ext>
            </a:extLst>
          </p:cNvPr>
          <p:cNvSpPr txBox="1"/>
          <p:nvPr/>
        </p:nvSpPr>
        <p:spPr>
          <a:xfrm>
            <a:off x="296117" y="5152302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8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24E49413-3990-0BD0-91E1-54BA0DC50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2" y="257907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3F6A16-D3C2-1D68-4283-399310915112}"/>
              </a:ext>
            </a:extLst>
          </p:cNvPr>
          <p:cNvCxnSpPr>
            <a:stCxn id="8" idx="3"/>
          </p:cNvCxnSpPr>
          <p:nvPr/>
        </p:nvCxnSpPr>
        <p:spPr>
          <a:xfrm>
            <a:off x="1581518" y="3063234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4C71D-8254-B73B-B2B9-75AA4EE6AC8D}"/>
              </a:ext>
            </a:extLst>
          </p:cNvPr>
          <p:cNvCxnSpPr>
            <a:stCxn id="6" idx="3"/>
            <a:endCxn id="3" idx="3"/>
          </p:cNvCxnSpPr>
          <p:nvPr/>
        </p:nvCxnSpPr>
        <p:spPr>
          <a:xfrm flipV="1">
            <a:off x="3144743" y="3063233"/>
            <a:ext cx="10728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972DAE-2968-A0FE-91A9-88D90E349CDA}"/>
              </a:ext>
            </a:extLst>
          </p:cNvPr>
          <p:cNvSpPr txBox="1"/>
          <p:nvPr/>
        </p:nvSpPr>
        <p:spPr>
          <a:xfrm>
            <a:off x="2119710" y="5168475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5A1E7-8295-86AC-9B2E-B42FD8217665}"/>
              </a:ext>
            </a:extLst>
          </p:cNvPr>
          <p:cNvSpPr txBox="1"/>
          <p:nvPr/>
        </p:nvSpPr>
        <p:spPr>
          <a:xfrm>
            <a:off x="2119709" y="563014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186B4-6245-BF3D-D718-F3E3245CDB10}"/>
              </a:ext>
            </a:extLst>
          </p:cNvPr>
          <p:cNvSpPr txBox="1"/>
          <p:nvPr/>
        </p:nvSpPr>
        <p:spPr>
          <a:xfrm>
            <a:off x="305353" y="5613967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27796C-1E6A-2903-E5C2-A1D27E9A9235}"/>
              </a:ext>
            </a:extLst>
          </p:cNvPr>
          <p:cNvCxnSpPr>
            <a:cxnSpLocks/>
            <a:stCxn id="3" idx="1"/>
            <a:endCxn id="24" idx="1"/>
          </p:cNvCxnSpPr>
          <p:nvPr/>
        </p:nvCxnSpPr>
        <p:spPr>
          <a:xfrm flipV="1">
            <a:off x="5993904" y="3063232"/>
            <a:ext cx="11460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F7310E0C-CC69-1B30-B98D-56FA7D07B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000" y="257907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7B4022-00EA-11EC-04EA-3EB691AD69A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909880" y="3063232"/>
            <a:ext cx="68012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F04A8F-E473-A83A-0727-DFE46C1AE62E}"/>
              </a:ext>
            </a:extLst>
          </p:cNvPr>
          <p:cNvSpPr txBox="1"/>
          <p:nvPr/>
        </p:nvSpPr>
        <p:spPr>
          <a:xfrm>
            <a:off x="10835845" y="5152302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8884D3-6A69-AE01-6082-1236D1CB3581}"/>
              </a:ext>
            </a:extLst>
          </p:cNvPr>
          <p:cNvSpPr txBox="1"/>
          <p:nvPr/>
        </p:nvSpPr>
        <p:spPr>
          <a:xfrm>
            <a:off x="10845081" y="5613967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838900-574B-38FC-1C82-AB9BCB312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955" y="1421045"/>
            <a:ext cx="2984114" cy="328437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F6CBD66-71A1-8191-D793-78FF5E6C2DA0}"/>
              </a:ext>
            </a:extLst>
          </p:cNvPr>
          <p:cNvSpPr txBox="1"/>
          <p:nvPr/>
        </p:nvSpPr>
        <p:spPr>
          <a:xfrm>
            <a:off x="7139955" y="4217396"/>
            <a:ext cx="818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4096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8776A0-84C2-90D7-31E7-B45D7941AA0B}"/>
              </a:ext>
            </a:extLst>
          </p:cNvPr>
          <p:cNvSpPr txBox="1"/>
          <p:nvPr/>
        </p:nvSpPr>
        <p:spPr>
          <a:xfrm>
            <a:off x="9253972" y="4217396"/>
            <a:ext cx="818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18080</a:t>
            </a:r>
          </a:p>
        </p:txBody>
      </p:sp>
    </p:spTree>
    <p:extLst>
      <p:ext uri="{BB962C8B-B14F-4D97-AF65-F5344CB8AC3E}">
        <p14:creationId xmlns:p14="http://schemas.microsoft.com/office/powerpoint/2010/main" val="230546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25D3C-05C8-08E8-C9EC-70A4DA36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322" y="369485"/>
            <a:ext cx="4491213" cy="494311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727FE8-1A75-FF9E-B956-C29B3F843A7A}"/>
              </a:ext>
            </a:extLst>
          </p:cNvPr>
          <p:cNvSpPr txBox="1"/>
          <p:nvPr/>
        </p:nvSpPr>
        <p:spPr>
          <a:xfrm>
            <a:off x="276606" y="1054668"/>
            <a:ext cx="60944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EGFR  :</a:t>
            </a:r>
          </a:p>
          <a:p>
            <a:r>
              <a:rPr lang="en-IN" sz="1000" dirty="0"/>
              <a:t>[ 0.001,  0.003,  0.760, -0.214,  0.089,  0.442, -0.031,  0.118, ... ,  0.001 ]</a:t>
            </a:r>
          </a:p>
          <a:p>
            <a:endParaRPr lang="en-IN" sz="1000" dirty="0"/>
          </a:p>
          <a:p>
            <a:r>
              <a:rPr lang="en-IN" sz="1000" dirty="0"/>
              <a:t>TP53  :</a:t>
            </a:r>
          </a:p>
          <a:p>
            <a:r>
              <a:rPr lang="en-IN" sz="1000" dirty="0"/>
              <a:t>[ -0.342,  0.517,  0.104, -0.889,  0.276,  0.061,  0.438, -0.092, ... , -0.215 ]</a:t>
            </a:r>
          </a:p>
          <a:p>
            <a:endParaRPr lang="en-IN" sz="1000" dirty="0"/>
          </a:p>
          <a:p>
            <a:r>
              <a:rPr lang="en-IN" sz="1000" dirty="0"/>
              <a:t>MAP2K1 :</a:t>
            </a:r>
          </a:p>
          <a:p>
            <a:r>
              <a:rPr lang="en-IN" sz="1000" dirty="0"/>
              <a:t>[ 0.224, -0.117,  0.059,  0.341, -0.402,  0.611,  0.094, -0.178, ... ,  0.307 ]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r>
              <a:rPr lang="sv-SE" sz="1000" dirty="0"/>
              <a:t>MYC   :</a:t>
            </a:r>
          </a:p>
          <a:p>
            <a:r>
              <a:rPr lang="sv-SE" sz="1000" dirty="0"/>
              <a:t>[ 0.451,  0.028, -0.316,  0.902, -0.144,  0.073, -0.291,  0.198, ... ,  0.556 ]</a:t>
            </a:r>
            <a:endParaRPr lang="en-IN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D0B91-2B51-8E1E-F561-6D3AE9549A41}"/>
              </a:ext>
            </a:extLst>
          </p:cNvPr>
          <p:cNvSpPr txBox="1"/>
          <p:nvPr/>
        </p:nvSpPr>
        <p:spPr>
          <a:xfrm>
            <a:off x="4469907" y="4830044"/>
            <a:ext cx="8183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800" dirty="0"/>
              <a:t>4096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F22F5-8446-4F1E-717E-C3C0A7698C47}"/>
              </a:ext>
            </a:extLst>
          </p:cNvPr>
          <p:cNvSpPr txBox="1"/>
          <p:nvPr/>
        </p:nvSpPr>
        <p:spPr>
          <a:xfrm>
            <a:off x="7937236" y="4830044"/>
            <a:ext cx="8183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18080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E55E2-0700-E8BD-B0CC-27AF06349AAD}"/>
              </a:ext>
            </a:extLst>
          </p:cNvPr>
          <p:cNvSpPr txBox="1"/>
          <p:nvPr/>
        </p:nvSpPr>
        <p:spPr>
          <a:xfrm>
            <a:off x="9033524" y="623781"/>
            <a:ext cx="28605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EGFR   : [ 90 ]</a:t>
            </a:r>
          </a:p>
          <a:p>
            <a:r>
              <a:rPr lang="en-IN" sz="1000" dirty="0"/>
              <a:t>TP53   : [ 45 ]</a:t>
            </a:r>
          </a:p>
          <a:p>
            <a:r>
              <a:rPr lang="en-IN" sz="1000" dirty="0"/>
              <a:t>MAP2K1 : [ 120 ]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BRCA1  : [ 25 ]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r>
              <a:rPr lang="en-IN" sz="1000" dirty="0"/>
              <a:t>.</a:t>
            </a:r>
          </a:p>
          <a:p>
            <a:r>
              <a:rPr lang="en-IN" sz="1000" dirty="0"/>
              <a:t>MYC    : [ 300 ]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4DE22-0E37-927F-FC9F-6AE1669B4244}"/>
              </a:ext>
            </a:extLst>
          </p:cNvPr>
          <p:cNvSpPr txBox="1"/>
          <p:nvPr/>
        </p:nvSpPr>
        <p:spPr>
          <a:xfrm>
            <a:off x="276606" y="369485"/>
            <a:ext cx="1369314" cy="3693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Model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7A08D-2496-DEA7-6912-4E9D2CA83F30}"/>
              </a:ext>
            </a:extLst>
          </p:cNvPr>
          <p:cNvSpPr txBox="1"/>
          <p:nvPr/>
        </p:nvSpPr>
        <p:spPr>
          <a:xfrm>
            <a:off x="9779140" y="184819"/>
            <a:ext cx="2136253" cy="3693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Model output</a:t>
            </a:r>
          </a:p>
        </p:txBody>
      </p:sp>
    </p:spTree>
    <p:extLst>
      <p:ext uri="{BB962C8B-B14F-4D97-AF65-F5344CB8AC3E}">
        <p14:creationId xmlns:p14="http://schemas.microsoft.com/office/powerpoint/2010/main" val="52420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B6DB-8D8F-A061-845E-9B89ADB0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76CA45-4EE6-AD2E-8C84-130A852FD163}"/>
              </a:ext>
            </a:extLst>
          </p:cNvPr>
          <p:cNvSpPr txBox="1"/>
          <p:nvPr/>
        </p:nvSpPr>
        <p:spPr>
          <a:xfrm>
            <a:off x="486918" y="1758756"/>
            <a:ext cx="60944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EGFR  :</a:t>
            </a:r>
          </a:p>
          <a:p>
            <a:r>
              <a:rPr lang="en-IN" sz="1000" dirty="0"/>
              <a:t>[ 0.001,  0.003,  0.760, -0.214,  0.089,  0.442, -0.031,  0.118, ... ,  0.001 ]</a:t>
            </a:r>
          </a:p>
          <a:p>
            <a:endParaRPr lang="en-IN" sz="1000" dirty="0"/>
          </a:p>
          <a:p>
            <a:r>
              <a:rPr lang="en-IN" sz="1000" dirty="0"/>
              <a:t>TP53  :</a:t>
            </a:r>
          </a:p>
          <a:p>
            <a:r>
              <a:rPr lang="en-IN" sz="1000" dirty="0"/>
              <a:t>[ -0.342,  0.517,  0.104, -0.889,  0.276,  0.061,  0.438, -0.092, ... , -0.215 ]</a:t>
            </a:r>
          </a:p>
          <a:p>
            <a:endParaRPr lang="en-IN" sz="1000" dirty="0"/>
          </a:p>
          <a:p>
            <a:r>
              <a:rPr lang="en-IN" sz="1000" dirty="0"/>
              <a:t>MAP2K1 :</a:t>
            </a:r>
          </a:p>
          <a:p>
            <a:r>
              <a:rPr lang="en-IN" sz="1000" dirty="0"/>
              <a:t>[ 0.224, -0.117,  0.059,  0.341, -0.402,  0.611,  0.094, -0.178, ... ,  0.307 ]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endParaRPr lang="en-IN" sz="1000" dirty="0"/>
          </a:p>
          <a:p>
            <a:r>
              <a:rPr lang="sv-SE" sz="1000" dirty="0"/>
              <a:t>MYC   :</a:t>
            </a:r>
          </a:p>
          <a:p>
            <a:r>
              <a:rPr lang="sv-SE" sz="1000" dirty="0"/>
              <a:t>[ 0.451,  0.028, -0.316,  0.902, -0.144,  0.073, -0.291,  0.198, ... ,  0.556 ]</a:t>
            </a:r>
            <a:endParaRPr lang="en-IN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F47D6-6C46-E42A-178A-9C3A1E2CBC7E}"/>
              </a:ext>
            </a:extLst>
          </p:cNvPr>
          <p:cNvSpPr txBox="1"/>
          <p:nvPr/>
        </p:nvSpPr>
        <p:spPr>
          <a:xfrm>
            <a:off x="4469907" y="4830044"/>
            <a:ext cx="8183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18080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C1E7F-93D8-A256-09F9-698BC3E73F7F}"/>
              </a:ext>
            </a:extLst>
          </p:cNvPr>
          <p:cNvSpPr txBox="1"/>
          <p:nvPr/>
        </p:nvSpPr>
        <p:spPr>
          <a:xfrm>
            <a:off x="7937236" y="4830044"/>
            <a:ext cx="8183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18080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C55C2-4036-344C-CF6E-A4BF0FA3845D}"/>
              </a:ext>
            </a:extLst>
          </p:cNvPr>
          <p:cNvSpPr txBox="1"/>
          <p:nvPr/>
        </p:nvSpPr>
        <p:spPr>
          <a:xfrm>
            <a:off x="8993298" y="1758756"/>
            <a:ext cx="120775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EGFR   : [ 90 ]</a:t>
            </a:r>
          </a:p>
          <a:p>
            <a:r>
              <a:rPr lang="en-IN" sz="1000" dirty="0"/>
              <a:t>TP53   : [ 45 ]</a:t>
            </a:r>
          </a:p>
          <a:p>
            <a:r>
              <a:rPr lang="en-IN" sz="1000" dirty="0"/>
              <a:t>MAP2K1 : [ 120 ]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BRCA1  : [ 25 ]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..</a:t>
            </a:r>
          </a:p>
          <a:p>
            <a:endParaRPr lang="en-IN" sz="1000" dirty="0"/>
          </a:p>
          <a:p>
            <a:r>
              <a:rPr lang="en-IN" sz="1000" dirty="0"/>
              <a:t>.</a:t>
            </a:r>
          </a:p>
          <a:p>
            <a:r>
              <a:rPr lang="en-IN" sz="1000" dirty="0"/>
              <a:t>MYC    : [ 300 ]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CEC39-350E-A9D4-CDF8-F4B4746108BB}"/>
              </a:ext>
            </a:extLst>
          </p:cNvPr>
          <p:cNvSpPr txBox="1"/>
          <p:nvPr/>
        </p:nvSpPr>
        <p:spPr>
          <a:xfrm>
            <a:off x="276606" y="369485"/>
            <a:ext cx="1369314" cy="3693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Model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967EC-36F1-5809-AE06-08B88528DAAB}"/>
              </a:ext>
            </a:extLst>
          </p:cNvPr>
          <p:cNvSpPr txBox="1"/>
          <p:nvPr/>
        </p:nvSpPr>
        <p:spPr>
          <a:xfrm>
            <a:off x="9779140" y="184819"/>
            <a:ext cx="2136253" cy="3693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Model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91928-D846-54C3-0B2E-9C563E57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316" y="1458508"/>
            <a:ext cx="4671982" cy="296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1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A8F8-0397-A5F0-C7C2-CFBFC5F0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DC273F-1E92-BFAE-DF95-E61656C89578}"/>
              </a:ext>
            </a:extLst>
          </p:cNvPr>
          <p:cNvSpPr txBox="1"/>
          <p:nvPr/>
        </p:nvSpPr>
        <p:spPr>
          <a:xfrm>
            <a:off x="344680" y="173343"/>
            <a:ext cx="53252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VirtualCell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Generator Architecture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A12CAC-4886-4224-7B72-03C7DF6740FD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2A57C2C-5436-DCE0-3906-6A8E8036036D}"/>
              </a:ext>
            </a:extLst>
          </p:cNvPr>
          <p:cNvSpPr/>
          <p:nvPr/>
        </p:nvSpPr>
        <p:spPr>
          <a:xfrm>
            <a:off x="5827245" y="318531"/>
            <a:ext cx="5990783" cy="5874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17B1B2-24CB-8099-6E82-3007C4E09877}"/>
              </a:ext>
            </a:extLst>
          </p:cNvPr>
          <p:cNvSpPr/>
          <p:nvPr/>
        </p:nvSpPr>
        <p:spPr>
          <a:xfrm>
            <a:off x="368625" y="843261"/>
            <a:ext cx="5301306" cy="53511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885B87-E9C6-0464-AAE1-E2A41EB45FAC}"/>
              </a:ext>
            </a:extLst>
          </p:cNvPr>
          <p:cNvSpPr txBox="1"/>
          <p:nvPr/>
        </p:nvSpPr>
        <p:spPr>
          <a:xfrm>
            <a:off x="389750" y="1144522"/>
            <a:ext cx="50594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Step 1: </a:t>
            </a:r>
            <a:r>
              <a:rPr lang="en-US" sz="1200" dirty="0"/>
              <a:t>Raw gene counts were </a:t>
            </a:r>
            <a:r>
              <a:rPr lang="en-US" sz="1200" b="1" dirty="0"/>
              <a:t>log-normalized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Step 2:</a:t>
            </a:r>
            <a:r>
              <a:rPr lang="en-US" sz="1200" dirty="0"/>
              <a:t> </a:t>
            </a:r>
            <a:r>
              <a:rPr lang="en-IN" sz="1200" dirty="0"/>
              <a:t>Model prediction</a:t>
            </a:r>
          </a:p>
          <a:p>
            <a:endParaRPr lang="en-IN" sz="1200" b="1" dirty="0"/>
          </a:p>
          <a:p>
            <a:endParaRPr lang="en-IN" sz="1200" b="1" dirty="0"/>
          </a:p>
          <a:p>
            <a:endParaRPr lang="en-IN" sz="1200" b="1" dirty="0"/>
          </a:p>
          <a:p>
            <a:r>
              <a:rPr lang="en-US" sz="1200" b="1" dirty="0"/>
              <a:t>Step 3:</a:t>
            </a:r>
            <a:r>
              <a:rPr lang="en-US" sz="1200" dirty="0"/>
              <a:t> </a:t>
            </a:r>
            <a:r>
              <a:rPr lang="en-IN" sz="1200" dirty="0"/>
              <a:t>Gene-wise squared error</a:t>
            </a:r>
          </a:p>
          <a:p>
            <a:endParaRPr lang="en-IN" sz="1200" b="1" dirty="0"/>
          </a:p>
          <a:p>
            <a:endParaRPr lang="en-IN" sz="1200" b="1" dirty="0"/>
          </a:p>
          <a:p>
            <a:endParaRPr lang="en-IN" sz="1200" b="1" dirty="0"/>
          </a:p>
          <a:p>
            <a:r>
              <a:rPr lang="en-US" sz="1200" b="1" dirty="0"/>
              <a:t>Step 4:</a:t>
            </a:r>
            <a:r>
              <a:rPr lang="en-US" sz="1200" dirty="0"/>
              <a:t> Average across genes</a:t>
            </a:r>
            <a:endParaRPr lang="en-US" sz="1200" b="1" dirty="0"/>
          </a:p>
          <a:p>
            <a:endParaRPr lang="en-US" sz="1200" b="1" dirty="0"/>
          </a:p>
          <a:p>
            <a:endParaRPr lang="en-IN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99C527-EB72-647B-6B63-F6FD37B62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50" y="1519352"/>
            <a:ext cx="2172003" cy="54300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2FF973B-A71C-6471-BB11-D91268E7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95" y="2339911"/>
            <a:ext cx="1200318" cy="46679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DEAF283-ACED-C32C-421A-B42A14911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64" y="3084259"/>
            <a:ext cx="1066949" cy="34294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13DFBD8-94F7-ECEB-4A67-45CBA1FC9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23" y="3822247"/>
            <a:ext cx="1789008" cy="64836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9A5A376-9AC1-EE46-4E65-FDBB3A258123}"/>
              </a:ext>
            </a:extLst>
          </p:cNvPr>
          <p:cNvSpPr txBox="1"/>
          <p:nvPr/>
        </p:nvSpPr>
        <p:spPr>
          <a:xfrm>
            <a:off x="389750" y="4520173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Step 5:</a:t>
            </a:r>
            <a:r>
              <a:rPr lang="en-US" sz="1200" dirty="0"/>
              <a:t> </a:t>
            </a:r>
            <a:r>
              <a:rPr lang="en-IN" sz="1200" dirty="0"/>
              <a:t>Average across batch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11AB89C-E6F1-EBEC-4F31-FB107A4BF0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44" y="4932625"/>
            <a:ext cx="1338706" cy="60280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71635B1-288E-AA37-3D5C-2CA3C7D3EBBC}"/>
              </a:ext>
            </a:extLst>
          </p:cNvPr>
          <p:cNvSpPr/>
          <p:nvPr/>
        </p:nvSpPr>
        <p:spPr>
          <a:xfrm>
            <a:off x="6722783" y="101949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D2CEC4-C1B7-7CF1-59EE-3D3E8EF260FE}"/>
              </a:ext>
            </a:extLst>
          </p:cNvPr>
          <p:cNvSpPr/>
          <p:nvPr/>
        </p:nvSpPr>
        <p:spPr>
          <a:xfrm>
            <a:off x="6722782" y="1687766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F80D2C-CE16-A4F4-C897-933D3C76EDDC}"/>
              </a:ext>
            </a:extLst>
          </p:cNvPr>
          <p:cNvSpPr/>
          <p:nvPr/>
        </p:nvSpPr>
        <p:spPr>
          <a:xfrm>
            <a:off x="6722781" y="236463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F9D2AF-F896-B983-C9A0-CFE0AF6566E8}"/>
              </a:ext>
            </a:extLst>
          </p:cNvPr>
          <p:cNvSpPr/>
          <p:nvPr/>
        </p:nvSpPr>
        <p:spPr>
          <a:xfrm>
            <a:off x="6725492" y="3023817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</a:endParaRP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(2048)</a:t>
            </a:r>
            <a:endParaRPr lang="en-IN" sz="1000" dirty="0"/>
          </a:p>
          <a:p>
            <a:pPr algn="ctr"/>
            <a:endParaRPr lang="en-IN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B2BE0CC-F4C9-87D7-B400-5C68C79E3E8D}"/>
              </a:ext>
            </a:extLst>
          </p:cNvPr>
          <p:cNvSpPr/>
          <p:nvPr/>
        </p:nvSpPr>
        <p:spPr>
          <a:xfrm>
            <a:off x="6722780" y="3738587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21C036-374B-850C-30A1-571284DFA2E2}"/>
              </a:ext>
            </a:extLst>
          </p:cNvPr>
          <p:cNvSpPr/>
          <p:nvPr/>
        </p:nvSpPr>
        <p:spPr>
          <a:xfrm>
            <a:off x="6722779" y="4391587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8E72877-681C-780D-9DA1-1C074E2FE351}"/>
              </a:ext>
            </a:extLst>
          </p:cNvPr>
          <p:cNvSpPr/>
          <p:nvPr/>
        </p:nvSpPr>
        <p:spPr>
          <a:xfrm>
            <a:off x="6722779" y="5059854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</p:spTree>
    <p:extLst>
      <p:ext uri="{BB962C8B-B14F-4D97-AF65-F5344CB8AC3E}">
        <p14:creationId xmlns:p14="http://schemas.microsoft.com/office/powerpoint/2010/main" val="453997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39B0-22B3-9F21-6B46-208A76BA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132915-CBB4-F2FA-C98F-CC4C1FDE8A20}"/>
              </a:ext>
            </a:extLst>
          </p:cNvPr>
          <p:cNvSpPr txBox="1"/>
          <p:nvPr/>
        </p:nvSpPr>
        <p:spPr>
          <a:xfrm>
            <a:off x="344680" y="173343"/>
            <a:ext cx="207848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Results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F05CD1-DB5B-7048-5069-16FAFAD2C3B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131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EB4A-8209-8C82-5817-4A50677B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5282C52-EF6C-C5E8-5FAC-88148502E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12" y="1499683"/>
            <a:ext cx="8468403" cy="42917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F7D4DD-0DF5-643C-1A5A-B50A7AD16634}"/>
              </a:ext>
            </a:extLst>
          </p:cNvPr>
          <p:cNvSpPr txBox="1">
            <a:spLocks/>
          </p:cNvSpPr>
          <p:nvPr/>
        </p:nvSpPr>
        <p:spPr>
          <a:xfrm>
            <a:off x="4685306" y="657798"/>
            <a:ext cx="2821389" cy="8477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b="1">
                <a:latin typeface="Aptos Display" panose="020B0004020202020204" pitchFamily="34" charset="0"/>
                <a:ea typeface="+mn-ea"/>
                <a:cs typeface="+mn-cs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C9312-EC55-E878-09FD-91A9B77CA38E}"/>
              </a:ext>
            </a:extLst>
          </p:cNvPr>
          <p:cNvSpPr txBox="1"/>
          <p:nvPr/>
        </p:nvSpPr>
        <p:spPr>
          <a:xfrm>
            <a:off x="486308" y="1739645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r>
              <a:rPr lang="en-US" sz="1400">
                <a:latin typeface="Aptos" panose="020B0004020202020204" pitchFamily="34" charset="0"/>
              </a:rPr>
              <a:t>3020 Old Ranch Pkwy.</a:t>
            </a:r>
          </a:p>
          <a:p>
            <a:r>
              <a:rPr lang="en-US" sz="1400">
                <a:latin typeface="Aptos" panose="020B0004020202020204" pitchFamily="34" charset="0"/>
              </a:rPr>
              <a:t>Suite 300, Seal Beach, CA 90740</a:t>
            </a:r>
            <a:endParaRPr lang="en-IN" sz="140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E7B4E9-128A-5EAC-C570-90CC491D9496}"/>
              </a:ext>
            </a:extLst>
          </p:cNvPr>
          <p:cNvSpPr txBox="1"/>
          <p:nvPr/>
        </p:nvSpPr>
        <p:spPr>
          <a:xfrm>
            <a:off x="4307645" y="1739643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r>
              <a:rPr lang="en-US" sz="1400">
                <a:latin typeface="Aptos" panose="020B0004020202020204" pitchFamily="34" charset="0"/>
              </a:rPr>
              <a:t>3602 Inland Empire Blvd., Suite C200, </a:t>
            </a:r>
            <a:br>
              <a:rPr lang="en-US" sz="1400">
                <a:latin typeface="Aptos" panose="020B0004020202020204" pitchFamily="34" charset="0"/>
              </a:rPr>
            </a:br>
            <a:r>
              <a:rPr lang="en-US" sz="1400">
                <a:latin typeface="Aptos" panose="020B0004020202020204" pitchFamily="34" charset="0"/>
              </a:rPr>
              <a:t>Ontario, CA 91764, United States</a:t>
            </a:r>
            <a:endParaRPr lang="en-IN" sz="140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98D5B-0E6A-43A2-C759-3FCE3A262A0F}"/>
              </a:ext>
            </a:extLst>
          </p:cNvPr>
          <p:cNvSpPr txBox="1"/>
          <p:nvPr/>
        </p:nvSpPr>
        <p:spPr>
          <a:xfrm>
            <a:off x="8128983" y="1739644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r>
              <a:rPr lang="en-US" sz="1400">
                <a:latin typeface="Aptos" panose="020B0004020202020204" pitchFamily="34" charset="0"/>
              </a:rPr>
              <a:t>611 Gateway Blvd, Suite 120, </a:t>
            </a:r>
          </a:p>
          <a:p>
            <a:r>
              <a:rPr lang="en-US" sz="1400">
                <a:latin typeface="Aptos" panose="020B0004020202020204" pitchFamily="34" charset="0"/>
              </a:rPr>
              <a:t>South San Francisco, CA 94080</a:t>
            </a:r>
            <a:endParaRPr lang="en-IN" sz="140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3177A-D24F-71D4-FB91-40D7F7189757}"/>
              </a:ext>
            </a:extLst>
          </p:cNvPr>
          <p:cNvSpPr txBox="1"/>
          <p:nvPr/>
        </p:nvSpPr>
        <p:spPr>
          <a:xfrm>
            <a:off x="486308" y="3123715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r>
              <a:rPr lang="nn-NO" sz="1400">
                <a:latin typeface="Aptos" panose="020B0004020202020204" pitchFamily="34" charset="0"/>
              </a:rPr>
              <a:t>Info Park Phase-II,</a:t>
            </a:r>
          </a:p>
          <a:p>
            <a:r>
              <a:rPr lang="nn-NO" sz="1400">
                <a:latin typeface="Aptos" panose="020B0004020202020204" pitchFamily="34" charset="0"/>
              </a:rPr>
              <a:t>Kakkanad, Kochi, India</a:t>
            </a:r>
            <a:endParaRPr lang="en-IN" sz="140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27CE7-25FD-694B-122D-CA542B7D4F57}"/>
              </a:ext>
            </a:extLst>
          </p:cNvPr>
          <p:cNvSpPr txBox="1"/>
          <p:nvPr/>
        </p:nvSpPr>
        <p:spPr>
          <a:xfrm>
            <a:off x="4307645" y="3123713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r>
              <a:rPr lang="en-US" sz="1400">
                <a:latin typeface="Aptos" panose="020B0004020202020204" pitchFamily="34" charset="0"/>
              </a:rPr>
              <a:t>Yamuna, Technopark Phase III</a:t>
            </a:r>
          </a:p>
          <a:p>
            <a:r>
              <a:rPr lang="en-US" sz="1400">
                <a:latin typeface="Aptos" panose="020B0004020202020204" pitchFamily="34" charset="0"/>
              </a:rPr>
              <a:t>Trivandrum, India</a:t>
            </a:r>
            <a:endParaRPr lang="en-IN" sz="14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0B02C-1845-9569-CF05-E481068012B0}"/>
              </a:ext>
            </a:extLst>
          </p:cNvPr>
          <p:cNvSpPr txBox="1"/>
          <p:nvPr/>
        </p:nvSpPr>
        <p:spPr>
          <a:xfrm>
            <a:off x="8124441" y="3123713"/>
            <a:ext cx="3436433" cy="1038224"/>
          </a:xfrm>
          <a:prstGeom prst="rect">
            <a:avLst/>
          </a:prstGeom>
          <a:solidFill>
            <a:srgbClr val="ECF6FE">
              <a:alpha val="89804"/>
            </a:srgbClr>
          </a:solidFill>
          <a:ln w="15875" cap="rnd">
            <a:solidFill>
              <a:srgbClr val="B5DBF9"/>
            </a:solidFill>
            <a:prstDash val="dash"/>
          </a:ln>
        </p:spPr>
        <p:txBody>
          <a:bodyPr wrap="none" lIns="180000" tIns="180000" rIns="180000" bIns="180000" rtlCol="0" anchor="ctr" anchorCtr="1">
            <a:no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600"/>
            </a:lvl1pPr>
          </a:lstStyle>
          <a:p>
            <a:endParaRPr lang="en-US" sz="1400" dirty="0">
              <a:latin typeface="Aptos"/>
            </a:endParaRPr>
          </a:p>
          <a:p>
            <a:r>
              <a:rPr lang="en-US" sz="1400" dirty="0">
                <a:latin typeface="Aptos"/>
              </a:rPr>
              <a:t>34-35 Hatton Garden, Holborn, </a:t>
            </a:r>
            <a:endParaRPr lang="en-US" dirty="0"/>
          </a:p>
          <a:p>
            <a:r>
              <a:rPr lang="en-US" sz="1400" dirty="0">
                <a:latin typeface="Aptos"/>
              </a:rPr>
              <a:t>London EC1N 8DX</a:t>
            </a:r>
            <a:endParaRPr lang="en-US" dirty="0"/>
          </a:p>
          <a:p>
            <a:endParaRPr lang="en-US" sz="1400" dirty="0"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702F8-A141-E729-404F-F277A3C897DE}"/>
              </a:ext>
            </a:extLst>
          </p:cNvPr>
          <p:cNvSpPr txBox="1"/>
          <p:nvPr/>
        </p:nvSpPr>
        <p:spPr>
          <a:xfrm>
            <a:off x="338958" y="5813290"/>
            <a:ext cx="237681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>
                <a:solidFill>
                  <a:srgbClr val="0CA48B"/>
                </a:solidFill>
              </a:rPr>
              <a:t>contactus@thinkbio.ai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5F2ED-A05D-5833-7831-84555E140F4D}"/>
              </a:ext>
            </a:extLst>
          </p:cNvPr>
          <p:cNvSpPr txBox="1"/>
          <p:nvPr/>
        </p:nvSpPr>
        <p:spPr>
          <a:xfrm>
            <a:off x="10094976" y="5813290"/>
            <a:ext cx="1758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>
                <a:solidFill>
                  <a:srgbClr val="0CA48B"/>
                </a:solidFill>
              </a:rPr>
              <a:t>+1- 909-303-3338</a:t>
            </a:r>
          </a:p>
        </p:txBody>
      </p:sp>
    </p:spTree>
    <p:extLst>
      <p:ext uri="{BB962C8B-B14F-4D97-AF65-F5344CB8AC3E}">
        <p14:creationId xmlns:p14="http://schemas.microsoft.com/office/powerpoint/2010/main" val="302713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851</Words>
  <Application>Microsoft Office PowerPoint</Application>
  <PresentationFormat>Widescreen</PresentationFormat>
  <Paragraphs>335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IBM Plex Mono</vt:lpstr>
      <vt:lpstr>Liberation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Vasudev R</dc:creator>
  <cp:lastModifiedBy>Vasudev R</cp:lastModifiedBy>
  <cp:revision>118</cp:revision>
  <dcterms:created xsi:type="dcterms:W3CDTF">2025-12-15T17:33:04Z</dcterms:created>
  <dcterms:modified xsi:type="dcterms:W3CDTF">2025-12-18T02:37:41Z</dcterms:modified>
</cp:coreProperties>
</file>